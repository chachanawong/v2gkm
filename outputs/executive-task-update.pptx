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e146d069394305" /><Relationship Type="http://schemas.openxmlformats.org/officeDocument/2006/relationships/extended-properties" Target="/docProps/app.xml" Id="R717cb4068ca24ab7" /><Relationship Type="http://schemas.openxmlformats.org/officeDocument/2006/relationships/officeDocument" Target="/ppt/presentation.xml" Id="R6098e34061f2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cfc4bff2d4c7f"/>
  </p:sldMasterIdLst>
  <p:notesMasterIdLst>
    <p:notesMasterId xmlns:r="http://schemas.openxmlformats.org/officeDocument/2006/relationships" r:id="R2092ef0cd1134d52"/>
  </p:notesMasterIdLst>
  <p:sldIdLst>
    <p:sldId xmlns:r="http://schemas.openxmlformats.org/officeDocument/2006/relationships" id="256" r:id="R2e02038af7ee4d7e"/>
    <p:sldId xmlns:r="http://schemas.openxmlformats.org/officeDocument/2006/relationships" id="257" r:id="R1eaed74d137c4d7f"/>
    <p:sldId xmlns:r="http://schemas.openxmlformats.org/officeDocument/2006/relationships" id="258" r:id="Rbee84c99efe849d4"/>
    <p:sldId xmlns:r="http://schemas.openxmlformats.org/officeDocument/2006/relationships" id="259" r:id="R98a2274ec0714d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4b024e52644ef4" /><Relationship Type="http://schemas.openxmlformats.org/officeDocument/2006/relationships/slideMaster" Target="/ppt/slideMasters/slideMaster1.xml" Id="R9f1cfc4bff2d4c7f" /><Relationship Type="http://schemas.openxmlformats.org/officeDocument/2006/relationships/notesMaster" Target="/ppt/notesMasters/notesMaster1.xml" Id="R2092ef0cd1134d52" /><Relationship Type="http://schemas.openxmlformats.org/officeDocument/2006/relationships/presProps" Target="/ppt/presProps.xml" Id="R5ca9d9fed5334dd2" /><Relationship Type="http://schemas.openxmlformats.org/officeDocument/2006/relationships/tableStyles" Target="/ppt/tableStyles.xml" Id="R63578175844444c4" /><Relationship Type="http://schemas.openxmlformats.org/officeDocument/2006/relationships/slide" Target="/ppt/slides/slide1.xml" Id="R2e02038af7ee4d7e" /><Relationship Type="http://schemas.openxmlformats.org/officeDocument/2006/relationships/slide" Target="/ppt/slides/slide2.xml" Id="R1eaed74d137c4d7f" /><Relationship Type="http://schemas.openxmlformats.org/officeDocument/2006/relationships/slide" Target="/ppt/slides/slide3.xml" Id="Rbee84c99efe849d4" /><Relationship Type="http://schemas.openxmlformats.org/officeDocument/2006/relationships/slide" Target="/ppt/slides/slide4.xml" Id="R98a2274ec0714d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e08f44a32744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13d3bc48c4b0b" /><Relationship Type="http://schemas.openxmlformats.org/officeDocument/2006/relationships/notesMaster" Target="/ppt/notesMasters/notesMaster1.xml" Id="R26b3ecf00b0b4c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908ea96804361" /><Relationship Type="http://schemas.openxmlformats.org/officeDocument/2006/relationships/notesMaster" Target="/ppt/notesMasters/notesMaster1.xml" Id="R98b29e12e611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6aeb33c6f448ee" /><Relationship Type="http://schemas.openxmlformats.org/officeDocument/2006/relationships/notesMaster" Target="/ppt/notesMasters/notesMaster1.xml" Id="Rdd63130be0e146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84519474344471" /><Relationship Type="http://schemas.openxmlformats.org/officeDocument/2006/relationships/notesMaster" Target="/ppt/notesMasters/notesMaster1.xml" Id="Rcba641ad6ac0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5c1a3de114d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1c4414fc454c5c" /><Relationship Type="http://schemas.openxmlformats.org/officeDocument/2006/relationships/slideLayout" Target="/ppt/slideLayouts/slideLayout1.xml" Id="R5e57d5d28a9248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7d5d28a9248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973462cf54795" /><Relationship Type="http://schemas.openxmlformats.org/officeDocument/2006/relationships/notesSlide" Target="/ppt/notesSlides/notesSlide1.xml" Id="R95b5e81784184c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2d511b04540ac" /><Relationship Type="http://schemas.openxmlformats.org/officeDocument/2006/relationships/notesSlide" Target="/ppt/notesSlides/notesSlide2.xml" Id="Ra3fc4b91cdf0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1e1e49e1443e4" /><Relationship Type="http://schemas.openxmlformats.org/officeDocument/2006/relationships/notesSlide" Target="/ppt/notesSlides/notesSlide3.xml" Id="Re15df0b2e6864a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d6e8017d042e9" /><Relationship Type="http://schemas.openxmlformats.org/officeDocument/2006/relationships/notesSlide" Target="/ppt/notesSlides/notesSlide4.xml" Id="R5eaca80a427643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header">
            <a:extLst xmlns:a="http://schemas.openxmlformats.org/drawingml/2006/main">
              <a:ext uri="{FF2B5EF4-FFF2-40B4-BE49-F238E27FC236}">
                <a16:creationId xmlns:a16="http://schemas.microsoft.com/office/drawing/2014/main" id="{F31768F1-D818-45C4-9A45-4DB62EC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ro-mark">
            <a:extLst xmlns:a="http://schemas.openxmlformats.org/drawingml/2006/main">
              <a:ext uri="{FF2B5EF4-FFF2-40B4-BE49-F238E27FC236}">
                <a16:creationId xmlns:a16="http://schemas.microsoft.com/office/drawing/2014/main" id="{2873A31B-5433-4910-8C93-84737FF9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ro-kicker">
            <a:extLst xmlns:a="http://schemas.openxmlformats.org/drawingml/2006/main">
              <a:ext uri="{FF2B5EF4-FFF2-40B4-BE49-F238E27FC236}">
                <a16:creationId xmlns:a16="http://schemas.microsoft.com/office/drawing/2014/main" id="{18B30211-F68A-43AD-9550-AFE32EEC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79A5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B79A5A"/>
                </a:solidFill>
                <a:latin typeface="Kanit"/>
                <a:ea typeface="Kanit"/>
                <a:cs typeface="Kanit"/>
              </a:rPr>
              <a:t>EXECUTIVE PORTFOLIO UPDATE</a:t>
            </a:r>
          </a:p>
        </p:txBody>
      </p:sp>
      <p:sp>
        <p:nvSpPr>
          <p:cNvPr id="4" name="hero-title">
            <a:extLst xmlns:a="http://schemas.openxmlformats.org/drawingml/2006/main">
              <a:ext uri="{FF2B5EF4-FFF2-40B4-BE49-F238E27FC236}">
                <a16:creationId xmlns:a16="http://schemas.microsoft.com/office/drawing/2014/main" id="{F404BEEB-9CDD-4CC6-9E74-BDEB9BDC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27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6 โครงการยัง On Track แต่คุณค่าของ Q3 ขึ้นอยู่กับ 3 การตัดสินใจในตอนนี้</a:t>
            </a:r>
          </a:p>
        </p:txBody>
      </p:sp>
      <p:sp>
        <p:nvSpPr>
          <p:cNvPr id="5" name="metric-big-0">
            <a:extLst xmlns:a="http://schemas.openxmlformats.org/drawingml/2006/main">
              <a:ext uri="{FF2B5EF4-FFF2-40B4-BE49-F238E27FC236}">
                <a16:creationId xmlns:a16="http://schemas.microsoft.com/office/drawing/2014/main" id="{44A66D6F-ACDD-490E-AC58-8F96BB27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315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6 / 6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BA88F180-CE14-454C-AB0E-E2F944D0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workstreams on track</a:t>
            </a:r>
          </a:p>
        </p:txBody>
      </p:sp>
      <p:sp>
        <p:nvSpPr>
          <p:cNvPr id="7" name="metric-accent-0">
            <a:extLst xmlns:a="http://schemas.openxmlformats.org/drawingml/2006/main">
              <a:ext uri="{FF2B5EF4-FFF2-40B4-BE49-F238E27FC236}">
                <a16:creationId xmlns:a16="http://schemas.microsoft.com/office/drawing/2014/main" id="{0192773E-FD36-41D8-971A-45A010D3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note-0">
            <a:extLst xmlns:a="http://schemas.openxmlformats.org/drawingml/2006/main">
              <a:ext uri="{FF2B5EF4-FFF2-40B4-BE49-F238E27FC236}">
                <a16:creationId xmlns:a16="http://schemas.microsoft.com/office/drawing/2014/main" id="{B86EF5AC-93B4-4C11-8047-9C4C815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3 ส่งมอบ Q3 • 3 ส่งมอบ Q4</a:t>
            </a:r>
          </a:p>
        </p:txBody>
      </p:sp>
      <p:sp>
        <p:nvSpPr>
          <p:cNvPr id="9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B04BA52A-4C9E-4ACB-9782-2E4F477B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0" name="metric-big-1">
            <a:extLst xmlns:a="http://schemas.openxmlformats.org/drawingml/2006/main">
              <a:ext uri="{FF2B5EF4-FFF2-40B4-BE49-F238E27FC236}">
                <a16:creationId xmlns:a16="http://schemas.microsoft.com/office/drawing/2014/main" id="{D4E262E4-B64C-4868-880E-B84B0D0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192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315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≥฿5.8M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2BF7A460-B848-4377-8CC9-1DF2452B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identified benefit</a:t>
            </a:r>
          </a:p>
        </p:txBody>
      </p:sp>
      <p:sp>
        <p:nvSpPr>
          <p:cNvPr id="12" name="metric-accent-1">
            <a:extLst xmlns:a="http://schemas.openxmlformats.org/drawingml/2006/main">
              <a:ext uri="{FF2B5EF4-FFF2-40B4-BE49-F238E27FC236}">
                <a16:creationId xmlns:a16="http://schemas.microsoft.com/office/drawing/2014/main" id="{9C22AC00-CE98-4091-8472-8EB23FDE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24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76DC8D9C-46E5-4063-B29B-35D35D8A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384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ควรให้ Finance ยืนยันก่อนรายงานผลจริง</a:t>
            </a:r>
          </a:p>
        </p:txBody>
      </p:sp>
      <p:sp>
        <p:nvSpPr>
          <p:cNvPr id="14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E9727F44-2F69-4589-BFCD-3B745986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5" name="metric-big-2">
            <a:extLst xmlns:a="http://schemas.openxmlformats.org/drawingml/2006/main">
              <a:ext uri="{FF2B5EF4-FFF2-40B4-BE49-F238E27FC236}">
                <a16:creationId xmlns:a16="http://schemas.microsoft.com/office/drawing/2014/main" id="{FAEE870F-0CD4-466F-8CD9-6E8D368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315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2×</a:t>
            </a:r>
          </a:p>
        </p:txBody>
      </p:sp>
      <p:sp>
        <p:nvSpPr>
          <p:cNvPr id="16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ED3B4F5E-74C7-46FE-B18C-F090221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3837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6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speed / efficiency target</a:t>
            </a:r>
          </a:p>
        </p:txBody>
      </p:sp>
      <p:sp>
        <p:nvSpPr>
          <p:cNvPr id="17" name="metric-accent-2">
            <a:extLst xmlns:a="http://schemas.openxmlformats.org/drawingml/2006/main">
              <a:ext uri="{FF2B5EF4-FFF2-40B4-BE49-F238E27FC236}">
                <a16:creationId xmlns:a16="http://schemas.microsoft.com/office/drawing/2014/main" id="{71B65B5D-424B-463C-BE62-3CE0A985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F7724272-2685-42C7-B59D-164009AC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384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Teacher payment และ Preschool CRM</a:t>
            </a:r>
          </a:p>
        </p:txBody>
      </p:sp>
      <p:sp>
        <p:nvSpPr>
          <p:cNvPr id="19" name="metric-divider-3">
            <a:extLst xmlns:a="http://schemas.openxmlformats.org/drawingml/2006/main">
              <a:ext uri="{FF2B5EF4-FFF2-40B4-BE49-F238E27FC236}">
                <a16:creationId xmlns:a16="http://schemas.microsoft.com/office/drawing/2014/main" id="{686B126A-1FE8-4282-8AAF-F1EA33E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9545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20" name="metric-big-3">
            <a:extLst xmlns:a="http://schemas.openxmlformats.org/drawingml/2006/main">
              <a:ext uri="{FF2B5EF4-FFF2-40B4-BE49-F238E27FC236}">
                <a16:creationId xmlns:a16="http://schemas.microsoft.com/office/drawing/2014/main" id="{16340424-90F4-4071-8942-515A952E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315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100%</a:t>
            </a:r>
          </a:p>
        </p:txBody>
      </p:sp>
      <p:sp>
        <p:nvSpPr>
          <p:cNvPr id="21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4375D519-1122-4F03-A55D-A5A3F395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manual work removal</a:t>
            </a:r>
          </a:p>
        </p:txBody>
      </p:sp>
      <p:sp>
        <p:nvSpPr>
          <p:cNvPr id="22" name="metric-accent-3">
            <a:extLst xmlns:a="http://schemas.openxmlformats.org/drawingml/2006/main">
              <a:ext uri="{FF2B5EF4-FFF2-40B4-BE49-F238E27FC236}">
                <a16:creationId xmlns:a16="http://schemas.microsoft.com/office/drawing/2014/main" id="{759D1A4E-6D0F-455E-8266-EA73A039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metric-note-3">
            <a:extLst xmlns:a="http://schemas.openxmlformats.org/drawingml/2006/main">
              <a:ext uri="{FF2B5EF4-FFF2-40B4-BE49-F238E27FC236}">
                <a16:creationId xmlns:a16="http://schemas.microsoft.com/office/drawing/2014/main" id="{E3338B77-1534-4ACF-AEFD-9A837BF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เป้าหมาย Fast Fix และ iAudit</a:t>
            </a:r>
          </a:p>
        </p:txBody>
      </p:sp>
      <p:sp>
        <p:nvSpPr>
          <p:cNvPr id="24" name="hero-insight-title">
            <a:extLst xmlns:a="http://schemas.openxmlformats.org/drawingml/2006/main">
              <a:ext uri="{FF2B5EF4-FFF2-40B4-BE49-F238E27FC236}">
                <a16:creationId xmlns:a16="http://schemas.microsoft.com/office/drawing/2014/main" id="{2105FAC8-B37F-4524-9DAB-E0E865F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7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ข้อสรุปสำหรับผู้บริหาร</a:t>
            </a:r>
          </a:p>
        </p:txBody>
      </p:sp>
      <p:sp>
        <p:nvSpPr>
          <p:cNvPr id="25" name="hero-insight-rule">
            <a:extLst xmlns:a="http://schemas.openxmlformats.org/drawingml/2006/main">
              <a:ext uri="{FF2B5EF4-FFF2-40B4-BE49-F238E27FC236}">
                <a16:creationId xmlns:a16="http://schemas.microsoft.com/office/drawing/2014/main" id="{4A43C53B-5CA0-4DB2-889B-1DC54D9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9A5A"/>
            </a:solidFill>
            <a:prstDash val="solid"/>
          </a:ln>
        </p:spPr>
      </p:sp>
      <p:sp>
        <p:nvSpPr>
          <p:cNvPr id="26" name="hero-insight">
            <a:extLst xmlns:a="http://schemas.openxmlformats.org/drawingml/2006/main">
              <a:ext uri="{FF2B5EF4-FFF2-40B4-BE49-F238E27FC236}">
                <a16:creationId xmlns:a16="http://schemas.microsoft.com/office/drawing/2014/main" id="{5A9F573E-86B0-4274-A57B-D245DF25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สถานะรวมยังเป็นสีเขียว แต่ความเสี่ยงไม่ได้อยู่ที่งานพัฒนา—อยู่ที่การตัดสินใจเรื่อง CRM, กำลังของ Digital Team และเจ้าของผลลัพธ์ทางธุรกิจของ AI</a:t>
            </a:r>
          </a:p>
        </p:txBody>
      </p:sp>
      <p:sp>
        <p:nvSpPr>
          <p:cNvPr id="27" name="hero-ask-band">
            <a:extLst xmlns:a="http://schemas.openxmlformats.org/drawingml/2006/main">
              <a:ext uri="{FF2B5EF4-FFF2-40B4-BE49-F238E27FC236}">
                <a16:creationId xmlns:a16="http://schemas.microsoft.com/office/drawing/2014/main" id="{5D5D34A4-0BEE-43A6-8EC8-A3207F65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11252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4EEDC"/>
          </a:solidFill>
          <a:ln xmlns:a="http://schemas.openxmlformats.org/drawingml/2006/main" w="9525">
            <a:solidFill>
              <a:srgbClr val="B79A5A"/>
            </a:solidFill>
            <a:prstDash val="solid"/>
          </a:ln>
        </p:spPr>
      </p:sp>
      <p:sp>
        <p:nvSpPr>
          <p:cNvPr id="28" name="hero-ask-label">
            <a:extLst xmlns:a="http://schemas.openxmlformats.org/drawingml/2006/main">
              <a:ext uri="{FF2B5EF4-FFF2-40B4-BE49-F238E27FC236}">
                <a16:creationId xmlns:a16="http://schemas.microsoft.com/office/drawing/2014/main" id="{4EC05F26-29A6-4992-94B2-8F96C00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B79A5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B79A5A"/>
                </a:solidFill>
                <a:latin typeface="Kanit"/>
                <a:ea typeface="Kanit"/>
                <a:cs typeface="Kanit"/>
              </a:rPr>
              <a:t>DECIDE NOW</a:t>
            </a:r>
          </a:p>
        </p:txBody>
      </p:sp>
      <p:sp>
        <p:nvSpPr>
          <p:cNvPr id="29" name="hero-ask-1">
            <a:extLst xmlns:a="http://schemas.openxmlformats.org/drawingml/2006/main">
              <a:ext uri="{FF2B5EF4-FFF2-40B4-BE49-F238E27FC236}">
                <a16:creationId xmlns:a16="http://schemas.microsoft.com/office/drawing/2014/main" id="{4E70F54F-77C7-4C74-8B62-C2974183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1  เลือกกรอบตัดสินใจ CRM สำหรับ Fast Fix</a:t>
            </a:r>
          </a:p>
        </p:txBody>
      </p:sp>
      <p:sp>
        <p:nvSpPr>
          <p:cNvPr id="30" name="hero-ask-2">
            <a:extLst xmlns:a="http://schemas.openxmlformats.org/drawingml/2006/main">
              <a:ext uri="{FF2B5EF4-FFF2-40B4-BE49-F238E27FC236}">
                <a16:creationId xmlns:a16="http://schemas.microsoft.com/office/drawing/2014/main" id="{A4578F5F-EF29-46ED-8000-3086A72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388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2  จัดสรร Digital Team ให้ Preschool</a:t>
            </a:r>
          </a:p>
        </p:txBody>
      </p:sp>
      <p:sp>
        <p:nvSpPr>
          <p:cNvPr id="31" name="hero-ask-3">
            <a:extLst xmlns:a="http://schemas.openxmlformats.org/drawingml/2006/main">
              <a:ext uri="{FF2B5EF4-FFF2-40B4-BE49-F238E27FC236}">
                <a16:creationId xmlns:a16="http://schemas.microsoft.com/office/drawing/2014/main" id="{746A2FCF-9DC5-4D4C-9584-9D6CC8B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388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3  ตั้ง Business Owner + Benefit Owner ให้ AI</a:t>
            </a:r>
          </a:p>
        </p:txBody>
      </p:sp>
      <p:sp>
        <p:nvSpPr>
          <p:cNvPr id="32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5B5F295F-4966-4258-BDBB-0398AE2D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3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E03320B2-8C1F-4AB5-8506-8FD17CFA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Source: Task status snapshot provided | Framing adapted from Strategic Business Presentation</a:t>
            </a:r>
          </a:p>
        </p:txBody>
      </p:sp>
      <p:sp>
        <p:nvSpPr>
          <p:cNvPr id="34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513C84F-962E-40E9-B154-F9689252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24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825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8131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2">
            <a:extLst xmlns:a="http://schemas.openxmlformats.org/drawingml/2006/main">
              <a:ext uri="{FF2B5EF4-FFF2-40B4-BE49-F238E27FC236}">
                <a16:creationId xmlns:a16="http://schemas.microsoft.com/office/drawing/2014/main" id="{C6EEE74D-FEAF-49F7-8AA8-6C5C45F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mark-2">
            <a:extLst xmlns:a="http://schemas.openxmlformats.org/drawingml/2006/main">
              <a:ext uri="{FF2B5EF4-FFF2-40B4-BE49-F238E27FC236}">
                <a16:creationId xmlns:a16="http://schemas.microsoft.com/office/drawing/2014/main" id="{CA0D187E-F0CF-4E1E-A8CF-53EBD46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2">
            <a:extLst xmlns:a="http://schemas.openxmlformats.org/drawingml/2006/main">
              <a:ext uri="{FF2B5EF4-FFF2-40B4-BE49-F238E27FC236}">
                <a16:creationId xmlns:a16="http://schemas.microsoft.com/office/drawing/2014/main" id="{926AA5A3-F8A6-4D9E-89A9-E9B74E8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79A5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B79A5A"/>
                </a:solidFill>
                <a:latin typeface="Kanit"/>
                <a:ea typeface="Kanit"/>
                <a:cs typeface="Kanit"/>
              </a:rPr>
              <a:t>Q3 DELIVERY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B0A82F4C-D2E0-4CFF-A0CD-4D43005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 โครงการ Q3 พร้อมสร้างมูลค่า—หากข้อพึ่งพาถูกปลดล็อกทันที</a:t>
            </a:r>
          </a:p>
        </p:txBody>
      </p:sp>
      <p:sp>
        <p:nvSpPr>
          <p:cNvPr id="5" name="th-2-0">
            <a:extLst xmlns:a="http://schemas.openxmlformats.org/drawingml/2006/main">
              <a:ext uri="{FF2B5EF4-FFF2-40B4-BE49-F238E27FC236}">
                <a16:creationId xmlns:a16="http://schemas.microsoft.com/office/drawing/2014/main" id="{D92CEAFF-6002-4C4C-B86F-A079928D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-text-2-0">
            <a:extLst xmlns:a="http://schemas.openxmlformats.org/drawingml/2006/main">
              <a:ext uri="{FF2B5EF4-FFF2-40B4-BE49-F238E27FC236}">
                <a16:creationId xmlns:a16="http://schemas.microsoft.com/office/drawing/2014/main" id="{B5E76B7E-808B-47A4-A609-1F4BDDD0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PROJECT / TARGET</a:t>
            </a:r>
          </a:p>
        </p:txBody>
      </p:sp>
      <p:sp>
        <p:nvSpPr>
          <p:cNvPr id="7" name="th-2-1">
            <a:extLst xmlns:a="http://schemas.openxmlformats.org/drawingml/2006/main">
              <a:ext uri="{FF2B5EF4-FFF2-40B4-BE49-F238E27FC236}">
                <a16:creationId xmlns:a16="http://schemas.microsoft.com/office/drawing/2014/main" id="{1A26525A-BE6C-4C12-9F9A-58BACB9D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00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h-text-2-1">
            <a:extLst xmlns:a="http://schemas.openxmlformats.org/drawingml/2006/main">
              <a:ext uri="{FF2B5EF4-FFF2-40B4-BE49-F238E27FC236}">
                <a16:creationId xmlns:a16="http://schemas.microsoft.com/office/drawing/2014/main" id="{CE7174F1-99B8-4D36-9B61-BD7BE55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668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EVIDENCE NOW</a:t>
            </a:r>
          </a:p>
        </p:txBody>
      </p:sp>
      <p:sp>
        <p:nvSpPr>
          <p:cNvPr id="9" name="th-2-2">
            <a:extLst xmlns:a="http://schemas.openxmlformats.org/drawingml/2006/main">
              <a:ext uri="{FF2B5EF4-FFF2-40B4-BE49-F238E27FC236}">
                <a16:creationId xmlns:a16="http://schemas.microsoft.com/office/drawing/2014/main" id="{DA6949EB-8976-4ABF-BAFD-57D11C6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00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h-text-2-2">
            <a:extLst xmlns:a="http://schemas.openxmlformats.org/drawingml/2006/main">
              <a:ext uri="{FF2B5EF4-FFF2-40B4-BE49-F238E27FC236}">
                <a16:creationId xmlns:a16="http://schemas.microsoft.com/office/drawing/2014/main" id="{61D31785-5E19-436D-BE11-24F9D50A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66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NEXT MILESTONE</a:t>
            </a:r>
          </a:p>
        </p:txBody>
      </p:sp>
      <p:sp>
        <p:nvSpPr>
          <p:cNvPr id="11" name="th-2-3">
            <a:extLst xmlns:a="http://schemas.openxmlformats.org/drawingml/2006/main">
              <a:ext uri="{FF2B5EF4-FFF2-40B4-BE49-F238E27FC236}">
                <a16:creationId xmlns:a16="http://schemas.microsoft.com/office/drawing/2014/main" id="{3FC023F4-D30A-4CE5-93B1-642FC2D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00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-text-2-3">
            <a:extLst xmlns:a="http://schemas.openxmlformats.org/drawingml/2006/main">
              <a:ext uri="{FF2B5EF4-FFF2-40B4-BE49-F238E27FC236}">
                <a16:creationId xmlns:a16="http://schemas.microsoft.com/office/drawing/2014/main" id="{ED627DEB-A0A7-481F-A6E3-C4904015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66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EXECUTIVE SUPPORT</a:t>
            </a:r>
          </a:p>
        </p:txBody>
      </p:sp>
      <p:sp>
        <p:nvSpPr>
          <p:cNvPr id="13" name="th-2-4">
            <a:extLst xmlns:a="http://schemas.openxmlformats.org/drawingml/2006/main">
              <a:ext uri="{FF2B5EF4-FFF2-40B4-BE49-F238E27FC236}">
                <a16:creationId xmlns:a16="http://schemas.microsoft.com/office/drawing/2014/main" id="{BC7B597E-CFD9-4931-BDC0-C8096189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00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h-text-2-4">
            <a:extLst xmlns:a="http://schemas.openxmlformats.org/drawingml/2006/main">
              <a:ext uri="{FF2B5EF4-FFF2-40B4-BE49-F238E27FC236}">
                <a16:creationId xmlns:a16="http://schemas.microsoft.com/office/drawing/2014/main" id="{AFA5271D-30B4-4E27-82FE-DC498E2E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66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BUSINESS VALUE</a:t>
            </a:r>
          </a:p>
        </p:txBody>
      </p:sp>
      <p:sp>
        <p:nvSpPr>
          <p:cNvPr id="15" name="row-bg-2-0">
            <a:extLst xmlns:a="http://schemas.openxmlformats.org/drawingml/2006/main">
              <a:ext uri="{FF2B5EF4-FFF2-40B4-BE49-F238E27FC236}">
                <a16:creationId xmlns:a16="http://schemas.microsoft.com/office/drawing/2014/main" id="{61DF1D64-8A11-48CD-8894-31B5A24D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1125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ine-2-0">
            <a:extLst xmlns:a="http://schemas.openxmlformats.org/drawingml/2006/main">
              <a:ext uri="{FF2B5EF4-FFF2-40B4-BE49-F238E27FC236}">
                <a16:creationId xmlns:a16="http://schemas.microsoft.com/office/drawing/2014/main" id="{CF2876A8-9B2E-4C4F-B91C-E50ACF98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7" name="col-line-2-0-1">
            <a:extLst xmlns:a="http://schemas.openxmlformats.org/drawingml/2006/main">
              <a:ext uri="{FF2B5EF4-FFF2-40B4-BE49-F238E27FC236}">
                <a16:creationId xmlns:a16="http://schemas.microsoft.com/office/drawing/2014/main" id="{560F5667-C4CE-4E26-8A0C-1CE18290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8" name="col-line-2-0-2">
            <a:extLst xmlns:a="http://schemas.openxmlformats.org/drawingml/2006/main">
              <a:ext uri="{FF2B5EF4-FFF2-40B4-BE49-F238E27FC236}">
                <a16:creationId xmlns:a16="http://schemas.microsoft.com/office/drawing/2014/main" id="{2B7E3396-7BAF-4B8B-ACFA-300FAAAB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9" name="col-line-2-0-3">
            <a:extLst xmlns:a="http://schemas.openxmlformats.org/drawingml/2006/main">
              <a:ext uri="{FF2B5EF4-FFF2-40B4-BE49-F238E27FC236}">
                <a16:creationId xmlns:a16="http://schemas.microsoft.com/office/drawing/2014/main" id="{8BB581B2-F237-409B-A425-AA52A79D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20" name="col-line-2-0-4">
            <a:extLst xmlns:a="http://schemas.openxmlformats.org/drawingml/2006/main">
              <a:ext uri="{FF2B5EF4-FFF2-40B4-BE49-F238E27FC236}">
                <a16:creationId xmlns:a16="http://schemas.microsoft.com/office/drawing/2014/main" id="{9DE41307-6375-4127-ADBB-A8BCC623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21" name="status-dot-2-0">
            <a:extLst xmlns:a="http://schemas.openxmlformats.org/drawingml/2006/main">
              <a:ext uri="{FF2B5EF4-FFF2-40B4-BE49-F238E27FC236}">
                <a16:creationId xmlns:a16="http://schemas.microsoft.com/office/drawing/2014/main" id="{000A12EA-C552-4BF6-9E67-E5B9F12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solidFill>
              <a:srgbClr val="18A957"/>
            </a:solidFill>
            <a:prstDash val="solid"/>
          </a:ln>
        </p:spPr>
      </p:sp>
      <p:sp>
        <p:nvSpPr>
          <p:cNvPr id="22" name="project-2-0">
            <a:extLst xmlns:a="http://schemas.openxmlformats.org/drawingml/2006/main">
              <a:ext uri="{FF2B5EF4-FFF2-40B4-BE49-F238E27FC236}">
                <a16:creationId xmlns:a16="http://schemas.microsoft.com/office/drawing/2014/main" id="{6B4628A6-4447-48E2-9EA3-D460149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Fast Fix</a:t>
            </a:r>
          </a:p>
        </p:txBody>
      </p:sp>
      <p:sp>
        <p:nvSpPr>
          <p:cNvPr id="23" name="due-bg-2-0">
            <a:extLst xmlns:a="http://schemas.openxmlformats.org/drawingml/2006/main">
              <a:ext uri="{FF2B5EF4-FFF2-40B4-BE49-F238E27FC236}">
                <a16:creationId xmlns:a16="http://schemas.microsoft.com/office/drawing/2014/main" id="{780C3441-1239-4CE6-A3F4-BBD2C0CD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ue-2-0">
            <a:extLst xmlns:a="http://schemas.openxmlformats.org/drawingml/2006/main">
              <a:ext uri="{FF2B5EF4-FFF2-40B4-BE49-F238E27FC236}">
                <a16:creationId xmlns:a16="http://schemas.microsoft.com/office/drawing/2014/main" id="{19EC14CE-5E40-4042-B5FC-77F30B36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713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ON TRACK • JUL/Q3</a:t>
            </a:r>
          </a:p>
        </p:txBody>
      </p:sp>
      <p:sp>
        <p:nvSpPr>
          <p:cNvPr id="25" name="outcome-2-0">
            <a:extLst xmlns:a="http://schemas.openxmlformats.org/drawingml/2006/main">
              <a:ext uri="{FF2B5EF4-FFF2-40B4-BE49-F238E27FC236}">
                <a16:creationId xmlns:a16="http://schemas.microsoft.com/office/drawing/2014/main" id="{8F3D67D0-4B90-4A96-B1FA-92CEBC2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ยกเลิกงาน manual 100%</a:t>
            </a:r>
          </a:p>
        </p:txBody>
      </p:sp>
      <p:sp>
        <p:nvSpPr>
          <p:cNvPr id="26" name="evidence-2-0">
            <a:extLst xmlns:a="http://schemas.openxmlformats.org/drawingml/2006/main">
              <a:ext uri="{FF2B5EF4-FFF2-40B4-BE49-F238E27FC236}">
                <a16:creationId xmlns:a16="http://schemas.microsoft.com/office/drawing/2014/main" id="{D1CC7618-BF27-4E01-8DCE-DC4DC4A7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3355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ออกแบบมาตรฐานกระบวนการ frontend และ backend แล้ว</a:t>
            </a:r>
          </a:p>
        </p:txBody>
      </p:sp>
      <p:sp>
        <p:nvSpPr>
          <p:cNvPr id="27" name="milestone-2-0">
            <a:extLst xmlns:a="http://schemas.openxmlformats.org/drawingml/2006/main">
              <a:ext uri="{FF2B5EF4-FFF2-40B4-BE49-F238E27FC236}">
                <a16:creationId xmlns:a16="http://schemas.microsoft.com/office/drawing/2014/main" id="{E909CE7B-482D-4FE8-B7C1-87E97424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สรุป SOP และเปรียบเทียบทางเลือก CRM สำหรับบริการ Fast Fix</a:t>
            </a:r>
          </a:p>
        </p:txBody>
      </p:sp>
      <p:sp>
        <p:nvSpPr>
          <p:cNvPr id="28" name="ask-2-0">
            <a:extLst xmlns:a="http://schemas.openxmlformats.org/drawingml/2006/main">
              <a:ext uri="{FF2B5EF4-FFF2-40B4-BE49-F238E27FC236}">
                <a16:creationId xmlns:a16="http://schemas.microsoft.com/office/drawing/2014/main" id="{AF5A917A-C03F-4FE2-86D4-5459F9E2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แต่งตั้งผู้ตัดสินใจและอนุมัติเกณฑ์เลือก CRM</a:t>
            </a:r>
          </a:p>
        </p:txBody>
      </p:sp>
      <p:sp>
        <p:nvSpPr>
          <p:cNvPr id="29" name="value-2-0">
            <a:extLst xmlns:a="http://schemas.openxmlformats.org/drawingml/2006/main">
              <a:ext uri="{FF2B5EF4-FFF2-40B4-BE49-F238E27FC236}">
                <a16:creationId xmlns:a16="http://schemas.microsoft.com/office/drawing/2014/main" id="{20F991C0-E041-469C-964A-F834876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866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ยกเลิกงาน manual 100%</a:t>
            </a:r>
          </a:p>
        </p:txBody>
      </p:sp>
      <p:sp>
        <p:nvSpPr>
          <p:cNvPr id="30" name="row-line-2-1">
            <a:extLst xmlns:a="http://schemas.openxmlformats.org/drawingml/2006/main">
              <a:ext uri="{FF2B5EF4-FFF2-40B4-BE49-F238E27FC236}">
                <a16:creationId xmlns:a16="http://schemas.microsoft.com/office/drawing/2014/main" id="{97658B15-8114-4DF0-A8BF-20884650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1" name="col-line-2-1-1">
            <a:extLst xmlns:a="http://schemas.openxmlformats.org/drawingml/2006/main">
              <a:ext uri="{FF2B5EF4-FFF2-40B4-BE49-F238E27FC236}">
                <a16:creationId xmlns:a16="http://schemas.microsoft.com/office/drawing/2014/main" id="{CC34488A-B72F-4976-9D57-3783443A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2" name="col-line-2-1-2">
            <a:extLst xmlns:a="http://schemas.openxmlformats.org/drawingml/2006/main">
              <a:ext uri="{FF2B5EF4-FFF2-40B4-BE49-F238E27FC236}">
                <a16:creationId xmlns:a16="http://schemas.microsoft.com/office/drawing/2014/main" id="{72B92C1D-269B-420B-B5BB-DE9A1E4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3" name="col-line-2-1-3">
            <a:extLst xmlns:a="http://schemas.openxmlformats.org/drawingml/2006/main">
              <a:ext uri="{FF2B5EF4-FFF2-40B4-BE49-F238E27FC236}">
                <a16:creationId xmlns:a16="http://schemas.microsoft.com/office/drawing/2014/main" id="{4C754E50-C191-46FD-B153-CF4913A3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4" name="col-line-2-1-4">
            <a:extLst xmlns:a="http://schemas.openxmlformats.org/drawingml/2006/main">
              <a:ext uri="{FF2B5EF4-FFF2-40B4-BE49-F238E27FC236}">
                <a16:creationId xmlns:a16="http://schemas.microsoft.com/office/drawing/2014/main" id="{379330ED-97FD-4FFB-B95C-F60D0A27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5" name="status-dot-2-1">
            <a:extLst xmlns:a="http://schemas.openxmlformats.org/drawingml/2006/main">
              <a:ext uri="{FF2B5EF4-FFF2-40B4-BE49-F238E27FC236}">
                <a16:creationId xmlns:a16="http://schemas.microsoft.com/office/drawing/2014/main" id="{AB56720E-60AA-4847-B4F7-7062A77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solidFill>
              <a:srgbClr val="18A957"/>
            </a:solidFill>
            <a:prstDash val="solid"/>
          </a:ln>
        </p:spPr>
      </p:sp>
      <p:sp>
        <p:nvSpPr>
          <p:cNvPr id="36" name="project-2-1">
            <a:extLst xmlns:a="http://schemas.openxmlformats.org/drawingml/2006/main">
              <a:ext uri="{FF2B5EF4-FFF2-40B4-BE49-F238E27FC236}">
                <a16:creationId xmlns:a16="http://schemas.microsoft.com/office/drawing/2014/main" id="{EE856619-23F8-4A23-AAA0-514D290E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Preschool</a:t>
            </a:r>
          </a:p>
        </p:txBody>
      </p:sp>
      <p:sp>
        <p:nvSpPr>
          <p:cNvPr id="37" name="due-bg-2-1">
            <a:extLst xmlns:a="http://schemas.openxmlformats.org/drawingml/2006/main">
              <a:ext uri="{FF2B5EF4-FFF2-40B4-BE49-F238E27FC236}">
                <a16:creationId xmlns:a16="http://schemas.microsoft.com/office/drawing/2014/main" id="{9B098416-669E-4D50-83AC-0C36C2E0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ue-2-1">
            <a:extLst xmlns:a="http://schemas.openxmlformats.org/drawingml/2006/main">
              <a:ext uri="{FF2B5EF4-FFF2-40B4-BE49-F238E27FC236}">
                <a16:creationId xmlns:a16="http://schemas.microsoft.com/office/drawing/2014/main" id="{082F1B30-37F4-4358-A10E-AE57C82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ON TRACK • Q3</a:t>
            </a:r>
          </a:p>
        </p:txBody>
      </p:sp>
      <p:sp>
        <p:nvSpPr>
          <p:cNvPr id="39" name="outcome-2-1">
            <a:extLst xmlns:a="http://schemas.openxmlformats.org/drawingml/2006/main">
              <a:ext uri="{FF2B5EF4-FFF2-40B4-BE49-F238E27FC236}">
                <a16:creationId xmlns:a16="http://schemas.microsoft.com/office/drawing/2014/main" id="{3AF0AC7B-BF20-46DF-9B47-1E5E2848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2× เร็วขึ้น + ฿2.8M saving</a:t>
            </a:r>
          </a:p>
        </p:txBody>
      </p:sp>
      <p:sp>
        <p:nvSpPr>
          <p:cNvPr id="40" name="evidence-2-1">
            <a:extLst xmlns:a="http://schemas.openxmlformats.org/drawingml/2006/main">
              <a:ext uri="{FF2B5EF4-FFF2-40B4-BE49-F238E27FC236}">
                <a16:creationId xmlns:a16="http://schemas.microsoft.com/office/drawing/2014/main" id="{9EA313E6-F131-4213-9496-C445BDAC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ปรับปรุงกระบวนการจ่ายเงินครูแล้ว</a:t>
            </a:r>
          </a:p>
        </p:txBody>
      </p:sp>
      <p:sp>
        <p:nvSpPr>
          <p:cNvPr id="41" name="milestone-2-1">
            <a:extLst xmlns:a="http://schemas.openxmlformats.org/drawingml/2006/main">
              <a:ext uri="{FF2B5EF4-FFF2-40B4-BE49-F238E27FC236}">
                <a16:creationId xmlns:a16="http://schemas.microsoft.com/office/drawing/2014/main" id="{12F08F50-1FA1-49A8-B20D-D6B58391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อนุมัติจาก Digital Team; กำหนด UAT และ go-live ของ Preschool CRM</a:t>
            </a:r>
          </a:p>
        </p:txBody>
      </p:sp>
      <p:sp>
        <p:nvSpPr>
          <p:cNvPr id="42" name="ask-2-1">
            <a:extLst xmlns:a="http://schemas.openxmlformats.org/drawingml/2006/main">
              <a:ext uri="{FF2B5EF4-FFF2-40B4-BE49-F238E27FC236}">
                <a16:creationId xmlns:a16="http://schemas.microsoft.com/office/drawing/2014/main" id="{B8EF5326-120F-4C96-822D-FA6BFA3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กันกำลัง Digital Team และยืนยัน go-live gate</a:t>
            </a:r>
          </a:p>
        </p:txBody>
      </p:sp>
      <p:sp>
        <p:nvSpPr>
          <p:cNvPr id="43" name="value-2-1">
            <a:extLst xmlns:a="http://schemas.openxmlformats.org/drawingml/2006/main">
              <a:ext uri="{FF2B5EF4-FFF2-40B4-BE49-F238E27FC236}">
                <a16:creationId xmlns:a16="http://schemas.microsoft.com/office/drawing/2014/main" id="{77E50550-3DF0-4BA1-9945-D806C11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0400"/>
            <a:ext cx="1866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2× เร็วขึ้น + ฿2.8M saving</a:t>
            </a:r>
          </a:p>
        </p:txBody>
      </p:sp>
      <p:sp>
        <p:nvSpPr>
          <p:cNvPr id="44" name="row-bg-2-2">
            <a:extLst xmlns:a="http://schemas.openxmlformats.org/drawingml/2006/main">
              <a:ext uri="{FF2B5EF4-FFF2-40B4-BE49-F238E27FC236}">
                <a16:creationId xmlns:a16="http://schemas.microsoft.com/office/drawing/2014/main" id="{670698F2-EF15-4869-8F5D-503A0299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ow-line-2-2">
            <a:extLst xmlns:a="http://schemas.openxmlformats.org/drawingml/2006/main">
              <a:ext uri="{FF2B5EF4-FFF2-40B4-BE49-F238E27FC236}">
                <a16:creationId xmlns:a16="http://schemas.microsoft.com/office/drawing/2014/main" id="{288914E7-9CDA-468F-A5A7-63CE4CDB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6" name="col-line-2-2-1">
            <a:extLst xmlns:a="http://schemas.openxmlformats.org/drawingml/2006/main">
              <a:ext uri="{FF2B5EF4-FFF2-40B4-BE49-F238E27FC236}">
                <a16:creationId xmlns:a16="http://schemas.microsoft.com/office/drawing/2014/main" id="{4EA8CDF1-AA8C-43F5-B63C-D598E44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7" name="col-line-2-2-2">
            <a:extLst xmlns:a="http://schemas.openxmlformats.org/drawingml/2006/main">
              <a:ext uri="{FF2B5EF4-FFF2-40B4-BE49-F238E27FC236}">
                <a16:creationId xmlns:a16="http://schemas.microsoft.com/office/drawing/2014/main" id="{CE844E7D-36C9-43E2-8366-3DC2620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8" name="col-line-2-2-3">
            <a:extLst xmlns:a="http://schemas.openxmlformats.org/drawingml/2006/main">
              <a:ext uri="{FF2B5EF4-FFF2-40B4-BE49-F238E27FC236}">
                <a16:creationId xmlns:a16="http://schemas.microsoft.com/office/drawing/2014/main" id="{A140C417-AAB8-4018-9905-C7F64A9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9" name="col-line-2-2-4">
            <a:extLst xmlns:a="http://schemas.openxmlformats.org/drawingml/2006/main">
              <a:ext uri="{FF2B5EF4-FFF2-40B4-BE49-F238E27FC236}">
                <a16:creationId xmlns:a16="http://schemas.microsoft.com/office/drawing/2014/main" id="{09E2FAD8-22D0-435C-9BA1-DEC0498B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50" name="status-dot-2-2">
            <a:extLst xmlns:a="http://schemas.openxmlformats.org/drawingml/2006/main">
              <a:ext uri="{FF2B5EF4-FFF2-40B4-BE49-F238E27FC236}">
                <a16:creationId xmlns:a16="http://schemas.microsoft.com/office/drawing/2014/main" id="{70A1C6A3-B330-4C0B-850B-B3866760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solidFill>
              <a:srgbClr val="18A957"/>
            </a:solidFill>
            <a:prstDash val="solid"/>
          </a:ln>
        </p:spPr>
      </p:sp>
      <p:sp>
        <p:nvSpPr>
          <p:cNvPr id="51" name="project-2-2">
            <a:extLst xmlns:a="http://schemas.openxmlformats.org/drawingml/2006/main">
              <a:ext uri="{FF2B5EF4-FFF2-40B4-BE49-F238E27FC236}">
                <a16:creationId xmlns:a16="http://schemas.microsoft.com/office/drawing/2014/main" id="{F7E5788C-A2F3-4EC2-BBDF-7D20C531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AI Solution</a:t>
            </a:r>
          </a:p>
        </p:txBody>
      </p:sp>
      <p:sp>
        <p:nvSpPr>
          <p:cNvPr id="52" name="due-bg-2-2">
            <a:extLst xmlns:a="http://schemas.openxmlformats.org/drawingml/2006/main">
              <a:ext uri="{FF2B5EF4-FFF2-40B4-BE49-F238E27FC236}">
                <a16:creationId xmlns:a16="http://schemas.microsoft.com/office/drawing/2014/main" id="{040591DA-6584-40BB-8332-A68905DD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ue-2-2">
            <a:extLst xmlns:a="http://schemas.openxmlformats.org/drawingml/2006/main">
              <a:ext uri="{FF2B5EF4-FFF2-40B4-BE49-F238E27FC236}">
                <a16:creationId xmlns:a16="http://schemas.microsoft.com/office/drawing/2014/main" id="{235C5539-5E85-4868-AF6A-6460DFB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ON TRACK • Q3</a:t>
            </a:r>
          </a:p>
        </p:txBody>
      </p:sp>
      <p:sp>
        <p:nvSpPr>
          <p:cNvPr id="54" name="outcome-2-2">
            <a:extLst xmlns:a="http://schemas.openxmlformats.org/drawingml/2006/main">
              <a:ext uri="{FF2B5EF4-FFF2-40B4-BE49-F238E27FC236}">
                <a16:creationId xmlns:a16="http://schemas.microsoft.com/office/drawing/2014/main" id="{7049F84B-2EF4-452D-9D5A-65280970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≥฿3M + ตัด manual 100%</a:t>
            </a:r>
          </a:p>
        </p:txBody>
      </p:sp>
      <p:sp>
        <p:nvSpPr>
          <p:cNvPr id="55" name="evidence-2-2">
            <a:extLst xmlns:a="http://schemas.openxmlformats.org/drawingml/2006/main">
              <a:ext uri="{FF2B5EF4-FFF2-40B4-BE49-F238E27FC236}">
                <a16:creationId xmlns:a16="http://schemas.microsoft.com/office/drawing/2014/main" id="{4F2521C7-BCB5-46B8-90A0-DF9A476F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Central Pattana Décor go-live แล้ว</a:t>
            </a:r>
          </a:p>
        </p:txBody>
      </p:sp>
      <p:sp>
        <p:nvSpPr>
          <p:cNvPr id="56" name="milestone-2-2">
            <a:extLst xmlns:a="http://schemas.openxmlformats.org/drawingml/2006/main">
              <a:ext uri="{FF2B5EF4-FFF2-40B4-BE49-F238E27FC236}">
                <a16:creationId xmlns:a16="http://schemas.microsoft.com/office/drawing/2014/main" id="{D8AADCC5-2A04-4F33-BD23-C5B4C4C2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Solar Home UX/UI; iAudit design &amp; coding; จัดลำดับ AI use cases</a:t>
            </a:r>
          </a:p>
        </p:txBody>
      </p:sp>
      <p:sp>
        <p:nvSpPr>
          <p:cNvPr id="57" name="ask-2-2">
            <a:extLst xmlns:a="http://schemas.openxmlformats.org/drawingml/2006/main">
              <a:ext uri="{FF2B5EF4-FFF2-40B4-BE49-F238E27FC236}">
                <a16:creationId xmlns:a16="http://schemas.microsoft.com/office/drawing/2014/main" id="{C1165B30-5DA0-4D31-972C-4B4BD4C3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ตั้ง Business Owner, adoption KPI และผู้ยืนยัน benefit</a:t>
            </a:r>
          </a:p>
        </p:txBody>
      </p:sp>
      <p:sp>
        <p:nvSpPr>
          <p:cNvPr id="58" name="value-2-2">
            <a:extLst xmlns:a="http://schemas.openxmlformats.org/drawingml/2006/main">
              <a:ext uri="{FF2B5EF4-FFF2-40B4-BE49-F238E27FC236}">
                <a16:creationId xmlns:a16="http://schemas.microsoft.com/office/drawing/2014/main" id="{5D16845C-11CA-4E0D-B3AB-27B07806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67250"/>
            <a:ext cx="1866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≥฿3M + ตัด manual 100%</a:t>
            </a:r>
          </a:p>
        </p:txBody>
      </p:sp>
      <p:sp>
        <p:nvSpPr>
          <p:cNvPr id="59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F54CBCAE-32E0-4FD1-8BC5-182EC5D2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60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91964A91-2133-4D39-A340-E2A75480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Source: Task status snapshot provided | Framing adapted from Strategic Business Presentation</a:t>
            </a:r>
          </a:p>
        </p:txBody>
      </p:sp>
      <p:sp>
        <p:nvSpPr>
          <p:cNvPr id="61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5B4F0B8-A8AF-4390-BB5D-9C84D76F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24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825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5805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3">
            <a:extLst xmlns:a="http://schemas.openxmlformats.org/drawingml/2006/main">
              <a:ext uri="{FF2B5EF4-FFF2-40B4-BE49-F238E27FC236}">
                <a16:creationId xmlns:a16="http://schemas.microsoft.com/office/drawing/2014/main" id="{A06ED861-F9F8-49B2-B019-C4E6D019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mark-3">
            <a:extLst xmlns:a="http://schemas.openxmlformats.org/drawingml/2006/main">
              <a:ext uri="{FF2B5EF4-FFF2-40B4-BE49-F238E27FC236}">
                <a16:creationId xmlns:a16="http://schemas.microsoft.com/office/drawing/2014/main" id="{88782A24-AABF-4D90-A3EE-CC08ECDC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3">
            <a:extLst xmlns:a="http://schemas.openxmlformats.org/drawingml/2006/main">
              <a:ext uri="{FF2B5EF4-FFF2-40B4-BE49-F238E27FC236}">
                <a16:creationId xmlns:a16="http://schemas.microsoft.com/office/drawing/2014/main" id="{61167ACF-BF68-43EB-9C00-72932BD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79A5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B79A5A"/>
                </a:solidFill>
                <a:latin typeface="Kanit"/>
                <a:ea typeface="Kanit"/>
                <a:cs typeface="Kanit"/>
              </a:rPr>
              <a:t>Q4 FOUNDATIONS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8DC6A5D2-D09E-4E1D-9A4A-F03187D4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งานฐานราก Q4 ต้องเปลี่ยนจาก “กิจกรรม” เป็น milestone ที่วัดได้</a:t>
            </a:r>
          </a:p>
        </p:txBody>
      </p:sp>
      <p:sp>
        <p:nvSpPr>
          <p:cNvPr id="5" name="th-3-0">
            <a:extLst xmlns:a="http://schemas.openxmlformats.org/drawingml/2006/main">
              <a:ext uri="{FF2B5EF4-FFF2-40B4-BE49-F238E27FC236}">
                <a16:creationId xmlns:a16="http://schemas.microsoft.com/office/drawing/2014/main" id="{473B1061-2A6B-4FE6-992A-58CDC360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h-text-3-0">
            <a:extLst xmlns:a="http://schemas.openxmlformats.org/drawingml/2006/main">
              <a:ext uri="{FF2B5EF4-FFF2-40B4-BE49-F238E27FC236}">
                <a16:creationId xmlns:a16="http://schemas.microsoft.com/office/drawing/2014/main" id="{9B53DAC9-36AA-48C9-9DFD-2D51EB0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PROJECT / TARGET</a:t>
            </a:r>
          </a:p>
        </p:txBody>
      </p:sp>
      <p:sp>
        <p:nvSpPr>
          <p:cNvPr id="7" name="th-3-1">
            <a:extLst xmlns:a="http://schemas.openxmlformats.org/drawingml/2006/main">
              <a:ext uri="{FF2B5EF4-FFF2-40B4-BE49-F238E27FC236}">
                <a16:creationId xmlns:a16="http://schemas.microsoft.com/office/drawing/2014/main" id="{CE8D15F3-22B5-4AD8-9F56-4F74300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200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h-text-3-1">
            <a:extLst xmlns:a="http://schemas.openxmlformats.org/drawingml/2006/main">
              <a:ext uri="{FF2B5EF4-FFF2-40B4-BE49-F238E27FC236}">
                <a16:creationId xmlns:a16="http://schemas.microsoft.com/office/drawing/2014/main" id="{75C93F0F-3481-4AFC-ABB4-D06D2D8B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266825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EVIDENCE NOW</a:t>
            </a:r>
          </a:p>
        </p:txBody>
      </p:sp>
      <p:sp>
        <p:nvSpPr>
          <p:cNvPr id="9" name="th-3-2">
            <a:extLst xmlns:a="http://schemas.openxmlformats.org/drawingml/2006/main">
              <a:ext uri="{FF2B5EF4-FFF2-40B4-BE49-F238E27FC236}">
                <a16:creationId xmlns:a16="http://schemas.microsoft.com/office/drawing/2014/main" id="{33F0C1EF-93E1-46A6-B85E-1045DE40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00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h-text-3-2">
            <a:extLst xmlns:a="http://schemas.openxmlformats.org/drawingml/2006/main">
              <a:ext uri="{FF2B5EF4-FFF2-40B4-BE49-F238E27FC236}">
                <a16:creationId xmlns:a16="http://schemas.microsoft.com/office/drawing/2014/main" id="{9949DFCF-152A-489C-B52A-BDADD0F7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66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NEXT MILESTONE</a:t>
            </a:r>
          </a:p>
        </p:txBody>
      </p:sp>
      <p:sp>
        <p:nvSpPr>
          <p:cNvPr id="11" name="th-3-3">
            <a:extLst xmlns:a="http://schemas.openxmlformats.org/drawingml/2006/main">
              <a:ext uri="{FF2B5EF4-FFF2-40B4-BE49-F238E27FC236}">
                <a16:creationId xmlns:a16="http://schemas.microsoft.com/office/drawing/2014/main" id="{79930907-F07C-460B-A9D5-0F2999DB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00150"/>
            <a:ext cx="2362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-text-3-3">
            <a:extLst xmlns:a="http://schemas.openxmlformats.org/drawingml/2006/main">
              <a:ext uri="{FF2B5EF4-FFF2-40B4-BE49-F238E27FC236}">
                <a16:creationId xmlns:a16="http://schemas.microsoft.com/office/drawing/2014/main" id="{C6C238FF-9231-4C3B-9159-77A95662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266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EXECUTIVE SUPPORT</a:t>
            </a:r>
          </a:p>
        </p:txBody>
      </p:sp>
      <p:sp>
        <p:nvSpPr>
          <p:cNvPr id="13" name="th-3-4">
            <a:extLst xmlns:a="http://schemas.openxmlformats.org/drawingml/2006/main">
              <a:ext uri="{FF2B5EF4-FFF2-40B4-BE49-F238E27FC236}">
                <a16:creationId xmlns:a16="http://schemas.microsoft.com/office/drawing/2014/main" id="{30746017-B9C8-4523-AABE-F21E2B0A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001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h-text-3-4">
            <a:extLst xmlns:a="http://schemas.openxmlformats.org/drawingml/2006/main">
              <a:ext uri="{FF2B5EF4-FFF2-40B4-BE49-F238E27FC236}">
                <a16:creationId xmlns:a16="http://schemas.microsoft.com/office/drawing/2014/main" id="{9DF336CF-7385-4196-8DC3-9A235D37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66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BUSINESS VALUE</a:t>
            </a:r>
          </a:p>
        </p:txBody>
      </p:sp>
      <p:sp>
        <p:nvSpPr>
          <p:cNvPr id="15" name="row-bg-3-0">
            <a:extLst xmlns:a="http://schemas.openxmlformats.org/drawingml/2006/main">
              <a:ext uri="{FF2B5EF4-FFF2-40B4-BE49-F238E27FC236}">
                <a16:creationId xmlns:a16="http://schemas.microsoft.com/office/drawing/2014/main" id="{790DC972-A2FE-4167-B5E5-9D539F7A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1125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line-3-0">
            <a:extLst xmlns:a="http://schemas.openxmlformats.org/drawingml/2006/main">
              <a:ext uri="{FF2B5EF4-FFF2-40B4-BE49-F238E27FC236}">
                <a16:creationId xmlns:a16="http://schemas.microsoft.com/office/drawing/2014/main" id="{66FBA4F4-7AAE-4201-83CE-CE39635E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7" name="col-line-3-0-1">
            <a:extLst xmlns:a="http://schemas.openxmlformats.org/drawingml/2006/main">
              <a:ext uri="{FF2B5EF4-FFF2-40B4-BE49-F238E27FC236}">
                <a16:creationId xmlns:a16="http://schemas.microsoft.com/office/drawing/2014/main" id="{2541E4FD-B717-4206-8D84-C5213281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8" name="col-line-3-0-2">
            <a:extLst xmlns:a="http://schemas.openxmlformats.org/drawingml/2006/main">
              <a:ext uri="{FF2B5EF4-FFF2-40B4-BE49-F238E27FC236}">
                <a16:creationId xmlns:a16="http://schemas.microsoft.com/office/drawing/2014/main" id="{49AC7B8A-3BD9-418F-98CA-EC06BBA3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9" name="col-line-3-0-3">
            <a:extLst xmlns:a="http://schemas.openxmlformats.org/drawingml/2006/main">
              <a:ext uri="{FF2B5EF4-FFF2-40B4-BE49-F238E27FC236}">
                <a16:creationId xmlns:a16="http://schemas.microsoft.com/office/drawing/2014/main" id="{E3426611-9C4B-45B5-BED8-D5BC769F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20" name="col-line-3-0-4">
            <a:extLst xmlns:a="http://schemas.openxmlformats.org/drawingml/2006/main">
              <a:ext uri="{FF2B5EF4-FFF2-40B4-BE49-F238E27FC236}">
                <a16:creationId xmlns:a16="http://schemas.microsoft.com/office/drawing/2014/main" id="{D31053D8-39C5-4113-AD4C-C37C3838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02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21" name="status-dot-3-0">
            <a:extLst xmlns:a="http://schemas.openxmlformats.org/drawingml/2006/main">
              <a:ext uri="{FF2B5EF4-FFF2-40B4-BE49-F238E27FC236}">
                <a16:creationId xmlns:a16="http://schemas.microsoft.com/office/drawing/2014/main" id="{22830EF6-A1F5-4283-B56F-209A6847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solidFill>
              <a:srgbClr val="18A957"/>
            </a:solidFill>
            <a:prstDash val="solid"/>
          </a:ln>
        </p:spPr>
      </p:sp>
      <p:sp>
        <p:nvSpPr>
          <p:cNvPr id="22" name="project-3-0">
            <a:extLst xmlns:a="http://schemas.openxmlformats.org/drawingml/2006/main">
              <a:ext uri="{FF2B5EF4-FFF2-40B4-BE49-F238E27FC236}">
                <a16:creationId xmlns:a16="http://schemas.microsoft.com/office/drawing/2014/main" id="{2D3BF3DF-726A-4F55-BD8A-AA1F0E77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Development</a:t>
            </a:r>
          </a:p>
        </p:txBody>
      </p:sp>
      <p:sp>
        <p:nvSpPr>
          <p:cNvPr id="23" name="due-bg-3-0">
            <a:extLst xmlns:a="http://schemas.openxmlformats.org/drawingml/2006/main">
              <a:ext uri="{FF2B5EF4-FFF2-40B4-BE49-F238E27FC236}">
                <a16:creationId xmlns:a16="http://schemas.microsoft.com/office/drawing/2014/main" id="{1E12B28B-D644-48E7-B6A5-8E259F2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ue-3-0">
            <a:extLst xmlns:a="http://schemas.openxmlformats.org/drawingml/2006/main">
              <a:ext uri="{FF2B5EF4-FFF2-40B4-BE49-F238E27FC236}">
                <a16:creationId xmlns:a16="http://schemas.microsoft.com/office/drawing/2014/main" id="{BB7D9ECC-91D8-477C-B8C1-99388D23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ON TRACK • Q4</a:t>
            </a:r>
          </a:p>
        </p:txBody>
      </p:sp>
      <p:sp>
        <p:nvSpPr>
          <p:cNvPr id="25" name="outcome-3-0">
            <a:extLst xmlns:a="http://schemas.openxmlformats.org/drawingml/2006/main">
              <a:ext uri="{FF2B5EF4-FFF2-40B4-BE49-F238E27FC236}">
                <a16:creationId xmlns:a16="http://schemas.microsoft.com/office/drawing/2014/main" id="{23770A39-30DA-4E02-8978-ECB4F53F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Retail ERP SOP ตามมาตรฐานสากล</a:t>
            </a:r>
          </a:p>
        </p:txBody>
      </p:sp>
      <p:sp>
        <p:nvSpPr>
          <p:cNvPr id="26" name="evidence-3-0">
            <a:extLst xmlns:a="http://schemas.openxmlformats.org/drawingml/2006/main">
              <a:ext uri="{FF2B5EF4-FFF2-40B4-BE49-F238E27FC236}">
                <a16:creationId xmlns:a16="http://schemas.microsoft.com/office/drawing/2014/main" id="{7708B12F-DD02-4EBA-9B6E-A84B70B7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3355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ทำ ERP As-Is assessment และหารือ first draft แล้ว</a:t>
            </a:r>
          </a:p>
        </p:txBody>
      </p:sp>
      <p:sp>
        <p:nvSpPr>
          <p:cNvPr id="27" name="milestone-3-0">
            <a:extLst xmlns:a="http://schemas.openxmlformats.org/drawingml/2006/main">
              <a:ext uri="{FF2B5EF4-FFF2-40B4-BE49-F238E27FC236}">
                <a16:creationId xmlns:a16="http://schemas.microsoft.com/office/drawing/2014/main" id="{C977EB61-3E6D-4423-B39A-85E302A7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เก็บ requirement; ปิด To-Be design review กับ P’Chap</a:t>
            </a:r>
          </a:p>
        </p:txBody>
      </p:sp>
      <p:sp>
        <p:nvSpPr>
          <p:cNvPr id="28" name="ask-3-0">
            <a:extLst xmlns:a="http://schemas.openxmlformats.org/drawingml/2006/main">
              <a:ext uri="{FF2B5EF4-FFF2-40B4-BE49-F238E27FC236}">
                <a16:creationId xmlns:a16="http://schemas.microsoft.com/office/drawing/2014/main" id="{8ECCD185-4F33-4DF6-9ABE-563FA8BA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ยืนยัน SME, reviewer และวัน sign-off ที่ชัดเจน</a:t>
            </a:r>
          </a:p>
        </p:txBody>
      </p:sp>
      <p:sp>
        <p:nvSpPr>
          <p:cNvPr id="29" name="value-3-0">
            <a:extLst xmlns:a="http://schemas.openxmlformats.org/drawingml/2006/main">
              <a:ext uri="{FF2B5EF4-FFF2-40B4-BE49-F238E27FC236}">
                <a16:creationId xmlns:a16="http://schemas.microsoft.com/office/drawing/2014/main" id="{677D3C7D-0C7D-4E65-8FA8-672859F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33550"/>
            <a:ext cx="1866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Retail ERP SOP ตามมาตรฐานสากล</a:t>
            </a:r>
          </a:p>
        </p:txBody>
      </p:sp>
      <p:sp>
        <p:nvSpPr>
          <p:cNvPr id="30" name="row-line-3-1">
            <a:extLst xmlns:a="http://schemas.openxmlformats.org/drawingml/2006/main">
              <a:ext uri="{FF2B5EF4-FFF2-40B4-BE49-F238E27FC236}">
                <a16:creationId xmlns:a16="http://schemas.microsoft.com/office/drawing/2014/main" id="{599DDA18-C317-4351-A126-56BF8C7F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1" name="col-line-3-1-1">
            <a:extLst xmlns:a="http://schemas.openxmlformats.org/drawingml/2006/main">
              <a:ext uri="{FF2B5EF4-FFF2-40B4-BE49-F238E27FC236}">
                <a16:creationId xmlns:a16="http://schemas.microsoft.com/office/drawing/2014/main" id="{A336D941-0BD0-4EC1-BB54-CE1AB28A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2" name="col-line-3-1-2">
            <a:extLst xmlns:a="http://schemas.openxmlformats.org/drawingml/2006/main">
              <a:ext uri="{FF2B5EF4-FFF2-40B4-BE49-F238E27FC236}">
                <a16:creationId xmlns:a16="http://schemas.microsoft.com/office/drawing/2014/main" id="{B77C7C28-1309-486B-B4C9-CF71459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3" name="col-line-3-1-3">
            <a:extLst xmlns:a="http://schemas.openxmlformats.org/drawingml/2006/main">
              <a:ext uri="{FF2B5EF4-FFF2-40B4-BE49-F238E27FC236}">
                <a16:creationId xmlns:a16="http://schemas.microsoft.com/office/drawing/2014/main" id="{1F054D34-956D-43E6-914D-C69A3280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4" name="col-line-3-1-4">
            <a:extLst xmlns:a="http://schemas.openxmlformats.org/drawingml/2006/main">
              <a:ext uri="{FF2B5EF4-FFF2-40B4-BE49-F238E27FC236}">
                <a16:creationId xmlns:a16="http://schemas.microsoft.com/office/drawing/2014/main" id="{F5139144-892E-4667-9C53-823905AE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670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5" name="status-dot-3-1">
            <a:extLst xmlns:a="http://schemas.openxmlformats.org/drawingml/2006/main">
              <a:ext uri="{FF2B5EF4-FFF2-40B4-BE49-F238E27FC236}">
                <a16:creationId xmlns:a16="http://schemas.microsoft.com/office/drawing/2014/main" id="{D220A5C4-74A9-4228-9359-F73E19C6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solidFill>
              <a:srgbClr val="18A957"/>
            </a:solidFill>
            <a:prstDash val="solid"/>
          </a:ln>
        </p:spPr>
      </p:sp>
      <p:sp>
        <p:nvSpPr>
          <p:cNvPr id="36" name="project-3-1">
            <a:extLst xmlns:a="http://schemas.openxmlformats.org/drawingml/2006/main">
              <a:ext uri="{FF2B5EF4-FFF2-40B4-BE49-F238E27FC236}">
                <a16:creationId xmlns:a16="http://schemas.microsoft.com/office/drawing/2014/main" id="{0DB96AB2-BBEE-471F-9D8F-376267A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9087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Residential</a:t>
            </a:r>
          </a:p>
        </p:txBody>
      </p:sp>
      <p:sp>
        <p:nvSpPr>
          <p:cNvPr id="37" name="due-bg-3-1">
            <a:extLst xmlns:a="http://schemas.openxmlformats.org/drawingml/2006/main">
              <a:ext uri="{FF2B5EF4-FFF2-40B4-BE49-F238E27FC236}">
                <a16:creationId xmlns:a16="http://schemas.microsoft.com/office/drawing/2014/main" id="{FC5CA689-26B5-4222-A1D1-949094AC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ue-3-1">
            <a:extLst xmlns:a="http://schemas.openxmlformats.org/drawingml/2006/main">
              <a:ext uri="{FF2B5EF4-FFF2-40B4-BE49-F238E27FC236}">
                <a16:creationId xmlns:a16="http://schemas.microsoft.com/office/drawing/2014/main" id="{AB22265B-B7AD-413B-B0B4-FA420E26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ON TRACK • Q4</a:t>
            </a:r>
          </a:p>
        </p:txBody>
      </p:sp>
      <p:sp>
        <p:nvSpPr>
          <p:cNvPr id="39" name="outcome-3-1">
            <a:extLst xmlns:a="http://schemas.openxmlformats.org/drawingml/2006/main">
              <a:ext uri="{FF2B5EF4-FFF2-40B4-BE49-F238E27FC236}">
                <a16:creationId xmlns:a16="http://schemas.microsoft.com/office/drawing/2014/main" id="{87D60C18-3BF5-4762-BD38-EFC45FA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3382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Value-chain SOP + 2 permit SOPs</a:t>
            </a:r>
          </a:p>
        </p:txBody>
      </p:sp>
      <p:sp>
        <p:nvSpPr>
          <p:cNvPr id="40" name="evidence-3-1">
            <a:extLst xmlns:a="http://schemas.openxmlformats.org/drawingml/2006/main">
              <a:ext uri="{FF2B5EF4-FFF2-40B4-BE49-F238E27FC236}">
                <a16:creationId xmlns:a16="http://schemas.microsoft.com/office/drawing/2014/main" id="{BC7D9E34-31B7-4D89-931F-3847ACC5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ทำ ERP As-Is assessment แล้ว</a:t>
            </a:r>
          </a:p>
        </p:txBody>
      </p:sp>
      <p:sp>
        <p:nvSpPr>
          <p:cNvPr id="41" name="milestone-3-1">
            <a:extLst xmlns:a="http://schemas.openxmlformats.org/drawingml/2006/main">
              <a:ext uri="{FF2B5EF4-FFF2-40B4-BE49-F238E27FC236}">
                <a16:creationId xmlns:a16="http://schemas.microsoft.com/office/drawing/2014/main" id="{443F6971-8954-457F-8E78-108CBAF8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เก็บ requirement; standardize flow; จัดทำ 2 SOP สำหรับ government permit</a:t>
            </a:r>
          </a:p>
        </p:txBody>
      </p:sp>
      <p:sp>
        <p:nvSpPr>
          <p:cNvPr id="42" name="ask-3-1">
            <a:extLst xmlns:a="http://schemas.openxmlformats.org/drawingml/2006/main">
              <a:ext uri="{FF2B5EF4-FFF2-40B4-BE49-F238E27FC236}">
                <a16:creationId xmlns:a16="http://schemas.microsoft.com/office/drawing/2014/main" id="{F9831B4D-539D-4AAC-83BD-0542B4FC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แต่งตั้ง process owner และผู้ตรวจเงื่อนไขภาครัฐ</a:t>
            </a:r>
          </a:p>
        </p:txBody>
      </p:sp>
      <p:sp>
        <p:nvSpPr>
          <p:cNvPr id="43" name="value-3-1">
            <a:extLst xmlns:a="http://schemas.openxmlformats.org/drawingml/2006/main">
              <a:ext uri="{FF2B5EF4-FFF2-40B4-BE49-F238E27FC236}">
                <a16:creationId xmlns:a16="http://schemas.microsoft.com/office/drawing/2014/main" id="{6F8B7EE9-286C-42AE-B65D-82773CC5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0400"/>
            <a:ext cx="1866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Value-chain SOP + 2 permit SOPs</a:t>
            </a:r>
          </a:p>
        </p:txBody>
      </p:sp>
      <p:sp>
        <p:nvSpPr>
          <p:cNvPr id="44" name="row-bg-3-2">
            <a:extLst xmlns:a="http://schemas.openxmlformats.org/drawingml/2006/main">
              <a:ext uri="{FF2B5EF4-FFF2-40B4-BE49-F238E27FC236}">
                <a16:creationId xmlns:a16="http://schemas.microsoft.com/office/drawing/2014/main" id="{D15F2B6A-90B1-4159-88DC-F8451C5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1125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ow-line-3-2">
            <a:extLst xmlns:a="http://schemas.openxmlformats.org/drawingml/2006/main">
              <a:ext uri="{FF2B5EF4-FFF2-40B4-BE49-F238E27FC236}">
                <a16:creationId xmlns:a16="http://schemas.microsoft.com/office/drawing/2014/main" id="{ACC19972-AFB6-4B33-A008-4762E0E6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6" name="col-line-3-2-1">
            <a:extLst xmlns:a="http://schemas.openxmlformats.org/drawingml/2006/main">
              <a:ext uri="{FF2B5EF4-FFF2-40B4-BE49-F238E27FC236}">
                <a16:creationId xmlns:a16="http://schemas.microsoft.com/office/drawing/2014/main" id="{13BC8D77-F9F5-418A-A57D-F11882F2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7" name="col-line-3-2-2">
            <a:extLst xmlns:a="http://schemas.openxmlformats.org/drawingml/2006/main">
              <a:ext uri="{FF2B5EF4-FFF2-40B4-BE49-F238E27FC236}">
                <a16:creationId xmlns:a16="http://schemas.microsoft.com/office/drawing/2014/main" id="{32A87789-4A74-4D04-A1A2-9DBC9A33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8" name="col-line-3-2-3">
            <a:extLst xmlns:a="http://schemas.openxmlformats.org/drawingml/2006/main">
              <a:ext uri="{FF2B5EF4-FFF2-40B4-BE49-F238E27FC236}">
                <a16:creationId xmlns:a16="http://schemas.microsoft.com/office/drawing/2014/main" id="{47DF669F-3138-42E8-8D32-4EC3BE7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9" name="col-line-3-2-4">
            <a:extLst xmlns:a="http://schemas.openxmlformats.org/drawingml/2006/main">
              <a:ext uri="{FF2B5EF4-FFF2-40B4-BE49-F238E27FC236}">
                <a16:creationId xmlns:a16="http://schemas.microsoft.com/office/drawing/2014/main" id="{59418FA9-25EA-4DCB-920D-7558E1D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3390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50" name="status-dot-3-2">
            <a:extLst xmlns:a="http://schemas.openxmlformats.org/drawingml/2006/main">
              <a:ext uri="{FF2B5EF4-FFF2-40B4-BE49-F238E27FC236}">
                <a16:creationId xmlns:a16="http://schemas.microsoft.com/office/drawing/2014/main" id="{CB7ACF49-BBDE-4562-905D-D86A4E0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57"/>
          </a:solidFill>
          <a:ln xmlns:a="http://schemas.openxmlformats.org/drawingml/2006/main" w="0">
            <a:solidFill>
              <a:srgbClr val="18A957"/>
            </a:solidFill>
            <a:prstDash val="solid"/>
          </a:ln>
        </p:spPr>
      </p:sp>
      <p:sp>
        <p:nvSpPr>
          <p:cNvPr id="51" name="project-3-2">
            <a:extLst xmlns:a="http://schemas.openxmlformats.org/drawingml/2006/main">
              <a:ext uri="{FF2B5EF4-FFF2-40B4-BE49-F238E27FC236}">
                <a16:creationId xmlns:a16="http://schemas.microsoft.com/office/drawing/2014/main" id="{D926C63D-1509-4F0C-8722-B6954DA3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495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Compliance</a:t>
            </a:r>
          </a:p>
        </p:txBody>
      </p:sp>
      <p:sp>
        <p:nvSpPr>
          <p:cNvPr id="52" name="due-bg-3-2">
            <a:extLst xmlns:a="http://schemas.openxmlformats.org/drawingml/2006/main">
              <a:ext uri="{FF2B5EF4-FFF2-40B4-BE49-F238E27FC236}">
                <a16:creationId xmlns:a16="http://schemas.microsoft.com/office/drawing/2014/main" id="{9BDF319B-CD2A-4F5E-938C-8EAA871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ue-3-2">
            <a:extLst xmlns:a="http://schemas.openxmlformats.org/drawingml/2006/main">
              <a:ext uri="{FF2B5EF4-FFF2-40B4-BE49-F238E27FC236}">
                <a16:creationId xmlns:a16="http://schemas.microsoft.com/office/drawing/2014/main" id="{992B883C-1F67-4DCA-9C00-7CDB49B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857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39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ON TRACK • Q4</a:t>
            </a:r>
          </a:p>
        </p:txBody>
      </p:sp>
      <p:sp>
        <p:nvSpPr>
          <p:cNvPr id="54" name="outcome-3-2">
            <a:extLst xmlns:a="http://schemas.openxmlformats.org/drawingml/2006/main">
              <a:ext uri="{FF2B5EF4-FFF2-40B4-BE49-F238E27FC236}">
                <a16:creationId xmlns:a16="http://schemas.microsoft.com/office/drawing/2014/main" id="{49FB8AB2-A045-4C73-9B79-3684800C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0 case + awareness ≥80%</a:t>
            </a:r>
          </a:p>
        </p:txBody>
      </p:sp>
      <p:sp>
        <p:nvSpPr>
          <p:cNvPr id="55" name="evidence-3-2">
            <a:extLst xmlns:a="http://schemas.openxmlformats.org/drawingml/2006/main">
              <a:ext uri="{FF2B5EF4-FFF2-40B4-BE49-F238E27FC236}">
                <a16:creationId xmlns:a16="http://schemas.microsoft.com/office/drawing/2014/main" id="{AC40F83E-DF74-4EC6-951F-E5947F89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21526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วางแผนและจัดทำ artwork แล้ว</a:t>
            </a:r>
          </a:p>
        </p:txBody>
      </p:sp>
      <p:sp>
        <p:nvSpPr>
          <p:cNvPr id="56" name="milestone-3-2">
            <a:extLst xmlns:a="http://schemas.openxmlformats.org/drawingml/2006/main">
              <a:ext uri="{FF2B5EF4-FFF2-40B4-BE49-F238E27FC236}">
                <a16:creationId xmlns:a16="http://schemas.microsoft.com/office/drawing/2014/main" id="{14E099EE-2797-48A6-A458-4E57562A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เปิด communication; วัด baseline/post awareness; ติดตาม compliance cases</a:t>
            </a:r>
          </a:p>
        </p:txBody>
      </p:sp>
      <p:sp>
        <p:nvSpPr>
          <p:cNvPr id="57" name="ask-3-2">
            <a:extLst xmlns:a="http://schemas.openxmlformats.org/drawingml/2006/main">
              <a:ext uri="{FF2B5EF4-FFF2-40B4-BE49-F238E27FC236}">
                <a16:creationId xmlns:a16="http://schemas.microsoft.com/office/drawing/2014/main" id="{00556C1C-F9F1-41AA-855D-729232D1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2133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202327"/>
                </a:solidFill>
                <a:latin typeface="Kanit"/>
                <a:ea typeface="Kanit"/>
                <a:cs typeface="Kanit"/>
              </a:rPr>
              <a:t>อนุมัติ calendar, channel และ accountable owner</a:t>
            </a:r>
          </a:p>
        </p:txBody>
      </p:sp>
      <p:sp>
        <p:nvSpPr>
          <p:cNvPr id="58" name="value-3-2">
            <a:extLst xmlns:a="http://schemas.openxmlformats.org/drawingml/2006/main">
              <a:ext uri="{FF2B5EF4-FFF2-40B4-BE49-F238E27FC236}">
                <a16:creationId xmlns:a16="http://schemas.microsoft.com/office/drawing/2014/main" id="{09324BAC-6F8E-4F25-8AC9-68C91F1A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67250"/>
            <a:ext cx="1866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0 case + awareness ≥80%</a:t>
            </a:r>
          </a:p>
        </p:txBody>
      </p:sp>
      <p:sp>
        <p:nvSpPr>
          <p:cNvPr id="59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19B8BE70-4AEA-4ED3-87CE-F9BB5D0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60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5382E8CF-5672-4F04-AD7F-0BED8757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Source: Task status snapshot provided | Framing adapted from Strategic Business Presentation</a:t>
            </a:r>
          </a:p>
        </p:txBody>
      </p:sp>
      <p:sp>
        <p:nvSpPr>
          <p:cNvPr id="61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7169E20-ECF0-4301-92E2-E9A2AE96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24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825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8695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er-4">
            <a:extLst xmlns:a="http://schemas.openxmlformats.org/drawingml/2006/main">
              <a:ext uri="{FF2B5EF4-FFF2-40B4-BE49-F238E27FC236}">
                <a16:creationId xmlns:a16="http://schemas.microsoft.com/office/drawing/2014/main" id="{FC5D46B4-7B9B-4792-A251-27B0D104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gold-mark-4">
            <a:extLst xmlns:a="http://schemas.openxmlformats.org/drawingml/2006/main">
              <a:ext uri="{FF2B5EF4-FFF2-40B4-BE49-F238E27FC236}">
                <a16:creationId xmlns:a16="http://schemas.microsoft.com/office/drawing/2014/main" id="{922F75AE-F555-49AF-9669-16E453B3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kicker-4">
            <a:extLst xmlns:a="http://schemas.openxmlformats.org/drawingml/2006/main">
              <a:ext uri="{FF2B5EF4-FFF2-40B4-BE49-F238E27FC236}">
                <a16:creationId xmlns:a16="http://schemas.microsoft.com/office/drawing/2014/main" id="{4E274FF2-BF67-480D-AB3D-920AE253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B79A5A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B79A5A"/>
                </a:solidFill>
                <a:latin typeface="Kanit"/>
                <a:ea typeface="Kanit"/>
                <a:cs typeface="Kanit"/>
              </a:rPr>
              <a:t>RECOMMENDED GOVERNANCE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81EA348B-25A0-4FE9-8C04-750BCBCE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 การตัดสินใจที่เปลี่ยน status report ให้กลายเป็น action</a:t>
            </a:r>
          </a:p>
        </p:txBody>
      </p:sp>
      <p:sp>
        <p:nvSpPr>
          <p:cNvPr id="5" name="decision-col-a">
            <a:extLst xmlns:a="http://schemas.openxmlformats.org/drawingml/2006/main">
              <a:ext uri="{FF2B5EF4-FFF2-40B4-BE49-F238E27FC236}">
                <a16:creationId xmlns:a16="http://schemas.microsoft.com/office/drawing/2014/main" id="{2679EC36-F7E0-420B-BE7B-0C5E58AB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382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DECISION / ACTION</a:t>
            </a:r>
          </a:p>
        </p:txBody>
      </p:sp>
      <p:sp>
        <p:nvSpPr>
          <p:cNvPr id="6" name="decision-col-b">
            <a:extLst xmlns:a="http://schemas.openxmlformats.org/drawingml/2006/main">
              <a:ext uri="{FF2B5EF4-FFF2-40B4-BE49-F238E27FC236}">
                <a16:creationId xmlns:a16="http://schemas.microsoft.com/office/drawing/2014/main" id="{2A834047-3C8C-4026-A2B3-24543525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38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ACCOUNTABLE ROLE</a:t>
            </a:r>
          </a:p>
        </p:txBody>
      </p:sp>
      <p:sp>
        <p:nvSpPr>
          <p:cNvPr id="7" name="decision-col-c">
            <a:extLst xmlns:a="http://schemas.openxmlformats.org/drawingml/2006/main">
              <a:ext uri="{FF2B5EF4-FFF2-40B4-BE49-F238E27FC236}">
                <a16:creationId xmlns:a16="http://schemas.microsoft.com/office/drawing/2014/main" id="{AFF518B0-58E5-415F-AC6A-6C54796F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38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900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WHEN</a:t>
            </a:r>
          </a:p>
        </p:txBody>
      </p:sp>
      <p:sp>
        <p:nvSpPr>
          <p:cNvPr id="8" name="decision-number-0">
            <a:extLst xmlns:a="http://schemas.openxmlformats.org/drawingml/2006/main">
              <a:ext uri="{FF2B5EF4-FFF2-40B4-BE49-F238E27FC236}">
                <a16:creationId xmlns:a16="http://schemas.microsoft.com/office/drawing/2014/main" id="{411E2196-56A9-4A0A-86DA-7F33EA5B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01</a:t>
            </a:r>
          </a:p>
        </p:txBody>
      </p:sp>
      <p:sp>
        <p:nvSpPr>
          <p:cNvPr id="9" name="decision-line-0">
            <a:extLst xmlns:a="http://schemas.openxmlformats.org/drawingml/2006/main">
              <a:ext uri="{FF2B5EF4-FFF2-40B4-BE49-F238E27FC236}">
                <a16:creationId xmlns:a16="http://schemas.microsoft.com/office/drawing/2014/main" id="{A8145F29-8262-4456-AE98-5F9EC08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764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8D3"/>
            </a:solidFill>
            <a:prstDash val="solid"/>
          </a:ln>
        </p:spPr>
      </p:sp>
      <p:sp>
        <p:nvSpPr>
          <p:cNvPr id="10" name="decision-title-0">
            <a:extLst xmlns:a="http://schemas.openxmlformats.org/drawingml/2006/main">
              <a:ext uri="{FF2B5EF4-FFF2-40B4-BE49-F238E27FC236}">
                <a16:creationId xmlns:a16="http://schemas.microsoft.com/office/drawing/2014/main" id="{6E40F4D6-9360-4B4B-AF80-9891E35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38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อนุมัติเกณฑ์และเจ้าของการตัดสินใจ CRM</a:t>
            </a:r>
          </a:p>
        </p:txBody>
      </p:sp>
      <p:sp>
        <p:nvSpPr>
          <p:cNvPr id="11" name="decision-why-0">
            <a:extLst xmlns:a="http://schemas.openxmlformats.org/drawingml/2006/main">
              <a:ext uri="{FF2B5EF4-FFF2-40B4-BE49-F238E27FC236}">
                <a16:creationId xmlns:a16="http://schemas.microsoft.com/office/drawing/2014/main" id="{8B76AAE7-34B1-4BB6-8BEB-A7E49155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Fast Fix ต้องการ decision gate มากกว่าการอัปเดตงานออกแบบ</a:t>
            </a:r>
          </a:p>
        </p:txBody>
      </p:sp>
      <p:sp>
        <p:nvSpPr>
          <p:cNvPr id="12" name="decision-owner-0">
            <a:extLst xmlns:a="http://schemas.openxmlformats.org/drawingml/2006/main">
              <a:ext uri="{FF2B5EF4-FFF2-40B4-BE49-F238E27FC236}">
                <a16:creationId xmlns:a16="http://schemas.microsoft.com/office/drawing/2014/main" id="{B9E13261-75BC-4AE0-A10D-FA528577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Business Owner + Digital</a:t>
            </a:r>
          </a:p>
        </p:txBody>
      </p:sp>
      <p:sp>
        <p:nvSpPr>
          <p:cNvPr id="13" name="timing-bg-0">
            <a:extLst xmlns:a="http://schemas.openxmlformats.org/drawingml/2006/main">
              <a:ext uri="{FF2B5EF4-FFF2-40B4-BE49-F238E27FC236}">
                <a16:creationId xmlns:a16="http://schemas.microsoft.com/office/drawing/2014/main" id="{1311D216-BA90-4474-A992-FC0DA68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859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iming-0">
            <a:extLst xmlns:a="http://schemas.openxmlformats.org/drawingml/2006/main">
              <a:ext uri="{FF2B5EF4-FFF2-40B4-BE49-F238E27FC236}">
                <a16:creationId xmlns:a16="http://schemas.microsoft.com/office/drawing/2014/main" id="{7A1D8372-84C0-4FFA-8F81-472E5E0F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335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THIS MEETING</a:t>
            </a:r>
          </a:p>
        </p:txBody>
      </p:sp>
      <p:sp>
        <p:nvSpPr>
          <p:cNvPr id="15" name="decision-separator-0">
            <a:extLst xmlns:a="http://schemas.openxmlformats.org/drawingml/2006/main">
              <a:ext uri="{FF2B5EF4-FFF2-40B4-BE49-F238E27FC236}">
                <a16:creationId xmlns:a16="http://schemas.microsoft.com/office/drawing/2014/main" id="{8800EDB4-D7EC-4E14-8E0E-2B412892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16" name="decision-number-1">
            <a:extLst xmlns:a="http://schemas.openxmlformats.org/drawingml/2006/main">
              <a:ext uri="{FF2B5EF4-FFF2-40B4-BE49-F238E27FC236}">
                <a16:creationId xmlns:a16="http://schemas.microsoft.com/office/drawing/2014/main" id="{B331FA87-58D4-468E-A2E9-2491439E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52725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02</a:t>
            </a:r>
          </a:p>
        </p:txBody>
      </p:sp>
      <p:sp>
        <p:nvSpPr>
          <p:cNvPr id="17" name="decision-line-1">
            <a:extLst xmlns:a="http://schemas.openxmlformats.org/drawingml/2006/main">
              <a:ext uri="{FF2B5EF4-FFF2-40B4-BE49-F238E27FC236}">
                <a16:creationId xmlns:a16="http://schemas.microsoft.com/office/drawing/2014/main" id="{3171E563-3E86-4107-8CC9-F686F718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8D3"/>
            </a:solidFill>
            <a:prstDash val="solid"/>
          </a:ln>
        </p:spPr>
      </p:sp>
      <p:sp>
        <p:nvSpPr>
          <p:cNvPr id="18" name="decision-title-1">
            <a:extLst xmlns:a="http://schemas.openxmlformats.org/drawingml/2006/main">
              <a:ext uri="{FF2B5EF4-FFF2-40B4-BE49-F238E27FC236}">
                <a16:creationId xmlns:a16="http://schemas.microsoft.com/office/drawing/2014/main" id="{F76471AE-0567-4276-A4D5-9D74D12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จัดสรร capacity ให้ Preschool CRM</a:t>
            </a:r>
          </a:p>
        </p:txBody>
      </p:sp>
      <p:sp>
        <p:nvSpPr>
          <p:cNvPr id="19" name="decision-why-1">
            <a:extLst xmlns:a="http://schemas.openxmlformats.org/drawingml/2006/main">
              <a:ext uri="{FF2B5EF4-FFF2-40B4-BE49-F238E27FC236}">
                <a16:creationId xmlns:a16="http://schemas.microsoft.com/office/drawing/2014/main" id="{D966368C-267E-4F6A-9290-01CBDBB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คุณค่า 2× และ ฿2.8M จะเกิดเมื่อมี UAT / go-live ที่ชัดเจน</a:t>
            </a:r>
          </a:p>
        </p:txBody>
      </p:sp>
      <p:sp>
        <p:nvSpPr>
          <p:cNvPr id="20" name="decision-owner-1">
            <a:extLst xmlns:a="http://schemas.openxmlformats.org/drawingml/2006/main">
              <a:ext uri="{FF2B5EF4-FFF2-40B4-BE49-F238E27FC236}">
                <a16:creationId xmlns:a16="http://schemas.microsoft.com/office/drawing/2014/main" id="{0F7F0577-7C6A-4B1F-B4AD-2F93D3AB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Digital Lead + Process Owner</a:t>
            </a:r>
          </a:p>
        </p:txBody>
      </p:sp>
      <p:sp>
        <p:nvSpPr>
          <p:cNvPr id="21" name="timing-bg-1">
            <a:extLst xmlns:a="http://schemas.openxmlformats.org/drawingml/2006/main">
              <a:ext uri="{FF2B5EF4-FFF2-40B4-BE49-F238E27FC236}">
                <a16:creationId xmlns:a16="http://schemas.microsoft.com/office/drawing/2014/main" id="{F0E9E1B2-14D5-4B23-9F8B-DB43DD88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7177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ming-1">
            <a:extLst xmlns:a="http://schemas.openxmlformats.org/drawingml/2006/main">
              <a:ext uri="{FF2B5EF4-FFF2-40B4-BE49-F238E27FC236}">
                <a16:creationId xmlns:a16="http://schemas.microsoft.com/office/drawing/2014/main" id="{8D0EF69E-A1E1-46DA-A48A-19395632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194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8A95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8A957"/>
                </a:solidFill>
                <a:latin typeface="Kanit"/>
                <a:ea typeface="Kanit"/>
                <a:cs typeface="Kanit"/>
              </a:rPr>
              <a:t>THIS MEETING</a:t>
            </a:r>
          </a:p>
        </p:txBody>
      </p:sp>
      <p:sp>
        <p:nvSpPr>
          <p:cNvPr id="23" name="decision-separator-1">
            <a:extLst xmlns:a="http://schemas.openxmlformats.org/drawingml/2006/main">
              <a:ext uri="{FF2B5EF4-FFF2-40B4-BE49-F238E27FC236}">
                <a16:creationId xmlns:a16="http://schemas.microsoft.com/office/drawing/2014/main" id="{01E240C9-4D7E-4C43-ABD0-5B02D537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24" name="decision-number-2">
            <a:extLst xmlns:a="http://schemas.openxmlformats.org/drawingml/2006/main">
              <a:ext uri="{FF2B5EF4-FFF2-40B4-BE49-F238E27FC236}">
                <a16:creationId xmlns:a16="http://schemas.microsoft.com/office/drawing/2014/main" id="{E7170D6A-62A0-4AAC-99BC-FF8BFC60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38575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D58B18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D58B18"/>
                </a:solidFill>
                <a:latin typeface="Kanit"/>
                <a:ea typeface="Kanit"/>
                <a:cs typeface="Kanit"/>
              </a:rPr>
              <a:t>03</a:t>
            </a:r>
          </a:p>
        </p:txBody>
      </p:sp>
      <p:sp>
        <p:nvSpPr>
          <p:cNvPr id="25" name="decision-line-2">
            <a:extLst xmlns:a="http://schemas.openxmlformats.org/drawingml/2006/main">
              <a:ext uri="{FF2B5EF4-FFF2-40B4-BE49-F238E27FC236}">
                <a16:creationId xmlns:a16="http://schemas.microsoft.com/office/drawing/2014/main" id="{50C0120F-B618-42A9-8ABA-E39F4FB7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8D3"/>
            </a:solidFill>
            <a:prstDash val="solid"/>
          </a:ln>
        </p:spPr>
      </p:sp>
      <p:sp>
        <p:nvSpPr>
          <p:cNvPr id="26" name="decision-title-2">
            <a:extLst xmlns:a="http://schemas.openxmlformats.org/drawingml/2006/main">
              <a:ext uri="{FF2B5EF4-FFF2-40B4-BE49-F238E27FC236}">
                <a16:creationId xmlns:a16="http://schemas.microsoft.com/office/drawing/2014/main" id="{68860B3F-C925-43B2-9F41-6138C40B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ตั้ง Business Owner และ Benefit Owner ให้ทุก AI use case</a:t>
            </a:r>
          </a:p>
        </p:txBody>
      </p:sp>
      <p:sp>
        <p:nvSpPr>
          <p:cNvPr id="27" name="decision-why-2">
            <a:extLst xmlns:a="http://schemas.openxmlformats.org/drawingml/2006/main">
              <a:ext uri="{FF2B5EF4-FFF2-40B4-BE49-F238E27FC236}">
                <a16:creationId xmlns:a16="http://schemas.microsoft.com/office/drawing/2014/main" id="{0D867C3B-D897-408A-ABFE-1D8B0C1C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แยก technical completion ออกจาก adoption และ realized benefit</a:t>
            </a:r>
          </a:p>
        </p:txBody>
      </p:sp>
      <p:sp>
        <p:nvSpPr>
          <p:cNvPr id="28" name="decision-owner-2">
            <a:extLst xmlns:a="http://schemas.openxmlformats.org/drawingml/2006/main">
              <a:ext uri="{FF2B5EF4-FFF2-40B4-BE49-F238E27FC236}">
                <a16:creationId xmlns:a16="http://schemas.microsoft.com/office/drawing/2014/main" id="{C1187976-7F2B-4387-82FA-A2E5CA57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BU Owner + Finance</a:t>
            </a:r>
          </a:p>
        </p:txBody>
      </p:sp>
      <p:sp>
        <p:nvSpPr>
          <p:cNvPr id="29" name="timing-bg-2">
            <a:extLst xmlns:a="http://schemas.openxmlformats.org/drawingml/2006/main">
              <a:ext uri="{FF2B5EF4-FFF2-40B4-BE49-F238E27FC236}">
                <a16:creationId xmlns:a16="http://schemas.microsoft.com/office/drawing/2014/main" id="{42DDD980-2A29-42CC-90E0-47F5BEC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5762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iming-2">
            <a:extLst xmlns:a="http://schemas.openxmlformats.org/drawingml/2006/main">
              <a:ext uri="{FF2B5EF4-FFF2-40B4-BE49-F238E27FC236}">
                <a16:creationId xmlns:a16="http://schemas.microsoft.com/office/drawing/2014/main" id="{1F8C0318-18D1-4415-BD7E-E4428836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9052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58B18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D58B18"/>
                </a:solidFill>
                <a:latin typeface="Kanit"/>
                <a:ea typeface="Kanit"/>
                <a:cs typeface="Kanit"/>
              </a:rPr>
              <a:t>WITHIN 2 WEEKS</a:t>
            </a:r>
          </a:p>
        </p:txBody>
      </p:sp>
      <p:sp>
        <p:nvSpPr>
          <p:cNvPr id="31" name="decision-separator-2">
            <a:extLst xmlns:a="http://schemas.openxmlformats.org/drawingml/2006/main">
              <a:ext uri="{FF2B5EF4-FFF2-40B4-BE49-F238E27FC236}">
                <a16:creationId xmlns:a16="http://schemas.microsoft.com/office/drawing/2014/main" id="{12ABB4A6-CFF5-497A-A453-FEEB906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815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32" name="decision-number-3">
            <a:extLst xmlns:a="http://schemas.openxmlformats.org/drawingml/2006/main">
              <a:ext uri="{FF2B5EF4-FFF2-40B4-BE49-F238E27FC236}">
                <a16:creationId xmlns:a16="http://schemas.microsoft.com/office/drawing/2014/main" id="{DFCF4324-8177-4C56-AC06-DE03218B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24425"/>
            <a:ext cx="72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D58B18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D58B18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  <p:sp>
        <p:nvSpPr>
          <p:cNvPr id="33" name="decision-line-3">
            <a:extLst xmlns:a="http://schemas.openxmlformats.org/drawingml/2006/main">
              <a:ext uri="{FF2B5EF4-FFF2-40B4-BE49-F238E27FC236}">
                <a16:creationId xmlns:a16="http://schemas.microsoft.com/office/drawing/2014/main" id="{0E5BD092-B7EC-4569-B6D3-3775BCC6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8D3"/>
            </a:solidFill>
            <a:prstDash val="solid"/>
          </a:ln>
        </p:spPr>
      </p:sp>
      <p:sp>
        <p:nvSpPr>
          <p:cNvPr id="34" name="decision-title-3">
            <a:extLst xmlns:a="http://schemas.openxmlformats.org/drawingml/2006/main">
              <a:ext uri="{FF2B5EF4-FFF2-40B4-BE49-F238E27FC236}">
                <a16:creationId xmlns:a16="http://schemas.microsoft.com/office/drawing/2014/main" id="{3ACDF19E-3979-4B83-86E9-49F9FC00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01214"/>
                </a:solidFill>
                <a:latin typeface="Kanit"/>
                <a:ea typeface="Kanit"/>
                <a:cs typeface="Kanit"/>
              </a:defRPr>
            </a:pPr>
            <a:r>
              <a:rPr sz="1575" b="1">
                <a:solidFill>
                  <a:srgbClr val="101214"/>
                </a:solidFill>
                <a:latin typeface="Kanit"/>
                <a:ea typeface="Kanit"/>
                <a:cs typeface="Kanit"/>
              </a:rPr>
              <a:t>ล็อก owner, due date และ evidence ของ ERP / Compliance</a:t>
            </a:r>
          </a:p>
        </p:txBody>
      </p:sp>
      <p:sp>
        <p:nvSpPr>
          <p:cNvPr id="35" name="decision-why-3">
            <a:extLst xmlns:a="http://schemas.openxmlformats.org/drawingml/2006/main">
              <a:ext uri="{FF2B5EF4-FFF2-40B4-BE49-F238E27FC236}">
                <a16:creationId xmlns:a16="http://schemas.microsoft.com/office/drawing/2014/main" id="{ADE83979-A92D-4905-9CC2-98AE339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Q4 ควรติดตาม sign-off, SOP adoption และ awareness—not activity count</a:t>
            </a:r>
          </a:p>
        </p:txBody>
      </p:sp>
      <p:sp>
        <p:nvSpPr>
          <p:cNvPr id="36" name="decision-owner-3">
            <a:extLst xmlns:a="http://schemas.openxmlformats.org/drawingml/2006/main">
              <a:ext uri="{FF2B5EF4-FFF2-40B4-BE49-F238E27FC236}">
                <a16:creationId xmlns:a16="http://schemas.microsoft.com/office/drawing/2014/main" id="{EDBA5B09-709E-4E29-9AF5-C7DB14F6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202327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02327"/>
                </a:solidFill>
                <a:latin typeface="Kanit"/>
                <a:ea typeface="Kanit"/>
                <a:cs typeface="Kanit"/>
              </a:rPr>
              <a:t>PMO + Process Owners</a:t>
            </a:r>
          </a:p>
        </p:txBody>
      </p:sp>
      <p:sp>
        <p:nvSpPr>
          <p:cNvPr id="37" name="timing-bg-3">
            <a:extLst xmlns:a="http://schemas.openxmlformats.org/drawingml/2006/main">
              <a:ext uri="{FF2B5EF4-FFF2-40B4-BE49-F238E27FC236}">
                <a16:creationId xmlns:a16="http://schemas.microsoft.com/office/drawing/2014/main" id="{4E17AD0B-2B51-4273-B498-460100D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43475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iming-3">
            <a:extLst xmlns:a="http://schemas.openxmlformats.org/drawingml/2006/main">
              <a:ext uri="{FF2B5EF4-FFF2-40B4-BE49-F238E27FC236}">
                <a16:creationId xmlns:a16="http://schemas.microsoft.com/office/drawing/2014/main" id="{DB35547C-13BE-4523-A43E-157E5B1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9911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D58B18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D58B18"/>
                </a:solidFill>
                <a:latin typeface="Kanit"/>
                <a:ea typeface="Kanit"/>
                <a:cs typeface="Kanit"/>
              </a:rPr>
              <a:t>WITHIN 2 WEEKS</a:t>
            </a:r>
          </a:p>
        </p:txBody>
      </p:sp>
      <p:sp>
        <p:nvSpPr>
          <p:cNvPr id="39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BDEF09DF-234B-4F0C-8DAB-C170D5E6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11125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439387D9-9D84-4CBC-97FE-4C77DC49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76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Next update: report decision closed • milestone achieved • benefit validated • risk / support needed</a:t>
            </a:r>
          </a:p>
        </p:txBody>
      </p:sp>
      <p:sp>
        <p:nvSpPr>
          <p:cNvPr id="41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9ED30AE8-8914-457E-B1D6-C410E553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3"/>
            </a:solidFill>
            <a:prstDash val="solid"/>
          </a:ln>
        </p:spPr>
      </p:sp>
      <p:sp>
        <p:nvSpPr>
          <p:cNvPr id="42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313BDF5C-D9B1-46B4-8889-4166CE0F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686E75"/>
                </a:solidFill>
                <a:latin typeface="Kanit"/>
                <a:ea typeface="Kanit"/>
                <a:cs typeface="Kanit"/>
              </a:rPr>
              <a:t>Source: Task status snapshot provided | Framing adapted from Strategic Business Presentation</a:t>
            </a:r>
          </a:p>
        </p:txBody>
      </p:sp>
      <p:sp>
        <p:nvSpPr>
          <p:cNvPr id="4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394040B-A6B6-4732-975D-93A01013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246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686E75"/>
                </a:solidFill>
                <a:latin typeface="Kanit"/>
                <a:ea typeface="Kanit"/>
                <a:cs typeface="Kanit"/>
              </a:defRPr>
            </a:pPr>
            <a:r>
              <a:rPr sz="825" b="1">
                <a:solidFill>
                  <a:srgbClr val="686E75"/>
                </a:solidFill>
                <a:latin typeface="Kanit"/>
                <a:ea typeface="Kanit"/>
                <a:cs typeface="Kani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849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2026-07-10T04:40:44.1450000Z</dcterms:created>
  <dcterms:modified xsi:type="dcterms:W3CDTF">2026-07-10T04:40:44.1450000Z</dcterms:modified>
</coreProperties>
</file>